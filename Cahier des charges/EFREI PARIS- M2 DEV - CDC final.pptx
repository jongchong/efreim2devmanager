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4"/>
  </p:notesMasterIdLst>
  <p:sldIdLst>
    <p:sldId id="256" r:id="rId2"/>
    <p:sldId id="305" r:id="rId3"/>
    <p:sldId id="441" r:id="rId4"/>
    <p:sldId id="443" r:id="rId5"/>
    <p:sldId id="640" r:id="rId6"/>
    <p:sldId id="446" r:id="rId7"/>
    <p:sldId id="464" r:id="rId8"/>
    <p:sldId id="662" r:id="rId9"/>
    <p:sldId id="588" r:id="rId10"/>
    <p:sldId id="642" r:id="rId11"/>
    <p:sldId id="645" r:id="rId12"/>
    <p:sldId id="644" r:id="rId13"/>
    <p:sldId id="646" r:id="rId14"/>
    <p:sldId id="663" r:id="rId15"/>
    <p:sldId id="756" r:id="rId16"/>
    <p:sldId id="757" r:id="rId17"/>
    <p:sldId id="665" r:id="rId18"/>
    <p:sldId id="456" r:id="rId19"/>
    <p:sldId id="711" r:id="rId20"/>
    <p:sldId id="712" r:id="rId21"/>
    <p:sldId id="713" r:id="rId22"/>
    <p:sldId id="726" r:id="rId23"/>
    <p:sldId id="262" r:id="rId24"/>
    <p:sldId id="474" r:id="rId25"/>
    <p:sldId id="461" r:id="rId26"/>
    <p:sldId id="462" r:id="rId27"/>
    <p:sldId id="707" r:id="rId28"/>
    <p:sldId id="716" r:id="rId29"/>
    <p:sldId id="727" r:id="rId30"/>
    <p:sldId id="263" r:id="rId31"/>
    <p:sldId id="264" r:id="rId32"/>
    <p:sldId id="728" r:id="rId33"/>
    <p:sldId id="717" r:id="rId34"/>
    <p:sldId id="718" r:id="rId35"/>
    <p:sldId id="719" r:id="rId36"/>
    <p:sldId id="720" r:id="rId37"/>
    <p:sldId id="721" r:id="rId38"/>
    <p:sldId id="722" r:id="rId39"/>
    <p:sldId id="723" r:id="rId40"/>
    <p:sldId id="724" r:id="rId41"/>
    <p:sldId id="725" r:id="rId42"/>
    <p:sldId id="710" r:id="rId43"/>
    <p:sldId id="653" r:id="rId44"/>
    <p:sldId id="655" r:id="rId45"/>
    <p:sldId id="714" r:id="rId46"/>
    <p:sldId id="565" r:id="rId47"/>
    <p:sldId id="566" r:id="rId48"/>
    <p:sldId id="656" r:id="rId49"/>
    <p:sldId id="759" r:id="rId50"/>
    <p:sldId id="760" r:id="rId51"/>
    <p:sldId id="761" r:id="rId52"/>
    <p:sldId id="762" r:id="rId53"/>
  </p:sldIdLst>
  <p:sldSz cx="9144000" cy="5143500" type="screen16x9"/>
  <p:notesSz cx="6858000" cy="9144000"/>
  <p:embeddedFontLst>
    <p:embeddedFont>
      <p:font typeface="Economica" panose="02000506040000020004" pitchFamily="2" charset="77"/>
      <p:regular r:id="rId55"/>
      <p:bold r:id="rId56"/>
      <p:italic r:id="rId57"/>
      <p:boldItalic r:id="rId58"/>
    </p:embeddedFont>
    <p:embeddedFont>
      <p:font typeface="Nunito" pitchFamily="2" charset="77"/>
      <p:regular r:id="rId59"/>
      <p:bold r:id="rId60"/>
      <p:italic r:id="rId61"/>
      <p:boldItalic r:id="rId62"/>
    </p:embeddedFont>
    <p:embeddedFont>
      <p:font typeface="Open Sans" panose="020B0606030504020204" pitchFamily="34"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AED955-BEC4-6D4E-999D-B8DEED7DA967}" v="14" dt="2024-04-22T13:05:26.62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8" autoAdjust="0"/>
    <p:restoredTop sz="95679" autoAdjust="0"/>
  </p:normalViewPr>
  <p:slideViewPr>
    <p:cSldViewPr snapToGrid="0">
      <p:cViewPr varScale="1">
        <p:scale>
          <a:sx n="143" d="100"/>
          <a:sy n="143" d="100"/>
        </p:scale>
        <p:origin x="928"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6b84b6ad11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6b84b6ad11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2554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bb940216cc_0_1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Open Sans"/>
              <a:ea typeface="Open Sans"/>
              <a:cs typeface="Open Sans"/>
              <a:sym typeface="Open Sans"/>
            </a:endParaRPr>
          </a:p>
          <a:p>
            <a:pPr marL="0" lvl="0" indent="0" algn="l" rtl="0">
              <a:lnSpc>
                <a:spcPct val="115000"/>
              </a:lnSpc>
              <a:spcBef>
                <a:spcPts val="0"/>
              </a:spcBef>
              <a:spcAft>
                <a:spcPts val="0"/>
              </a:spcAft>
              <a:buNone/>
            </a:pPr>
            <a:r>
              <a:rPr lang="fr-FR">
                <a:solidFill>
                  <a:schemeClr val="dk1"/>
                </a:solidFill>
                <a:latin typeface="Open Sans"/>
                <a:ea typeface="Open Sans"/>
                <a:cs typeface="Open Sans"/>
                <a:sym typeface="Open Sans"/>
              </a:rPr>
              <a:t>=&gt; les fonctionnalités présentes dans la V1, MVP… </a:t>
            </a:r>
            <a:endParaRPr>
              <a:solidFill>
                <a:schemeClr val="dk1"/>
              </a:solidFill>
              <a:latin typeface="Open Sans"/>
              <a:ea typeface="Open Sans"/>
              <a:cs typeface="Open Sans"/>
              <a:sym typeface="Open Sans"/>
            </a:endParaRPr>
          </a:p>
          <a:p>
            <a:pPr marL="0" lvl="0" indent="0" algn="l" rtl="0">
              <a:lnSpc>
                <a:spcPct val="115000"/>
              </a:lnSpc>
              <a:spcBef>
                <a:spcPts val="0"/>
              </a:spcBef>
              <a:spcAft>
                <a:spcPts val="0"/>
              </a:spcAft>
              <a:buNone/>
            </a:pPr>
            <a:r>
              <a:rPr lang="fr-FR">
                <a:solidFill>
                  <a:schemeClr val="dk1"/>
                </a:solidFill>
                <a:latin typeface="Open Sans"/>
                <a:ea typeface="Open Sans"/>
                <a:cs typeface="Open Sans"/>
                <a:sym typeface="Open Sans"/>
              </a:rPr>
              <a:t>Listing des fonctionnalités qui seront présentes dans notre V1</a:t>
            </a:r>
            <a:endParaRPr>
              <a:solidFill>
                <a:schemeClr val="dk1"/>
              </a:solidFill>
              <a:latin typeface="Open Sans"/>
              <a:ea typeface="Open Sans"/>
              <a:cs typeface="Open Sans"/>
              <a:sym typeface="Open Sans"/>
            </a:endParaRPr>
          </a:p>
          <a:p>
            <a:pPr marL="0" lvl="0" indent="0" algn="l" rtl="0">
              <a:lnSpc>
                <a:spcPct val="115000"/>
              </a:lnSpc>
              <a:spcBef>
                <a:spcPts val="0"/>
              </a:spcBef>
              <a:spcAft>
                <a:spcPts val="0"/>
              </a:spcAft>
              <a:buNone/>
            </a:pPr>
            <a:r>
              <a:rPr lang="fr-FR">
                <a:solidFill>
                  <a:schemeClr val="dk1"/>
                </a:solidFill>
                <a:latin typeface="Open Sans"/>
                <a:ea typeface="Open Sans"/>
                <a:cs typeface="Open Sans"/>
                <a:sym typeface="Open Sans"/>
              </a:rPr>
              <a:t>les roles app ou site web / admin super admin , user</a:t>
            </a:r>
            <a:endParaRPr>
              <a:solidFill>
                <a:schemeClr val="dk1"/>
              </a:solidFill>
              <a:latin typeface="Open Sans"/>
              <a:ea typeface="Open Sans"/>
              <a:cs typeface="Open Sans"/>
              <a:sym typeface="Open Sans"/>
            </a:endParaRPr>
          </a:p>
        </p:txBody>
      </p:sp>
      <p:sp>
        <p:nvSpPr>
          <p:cNvPr id="128" name="Google Shape;128;gbb940216cc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2178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bbbcc83159_0_2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gbbbcc83159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c04a61d559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Open Sans"/>
              <a:buChar char="-"/>
            </a:pPr>
            <a:endParaRPr>
              <a:solidFill>
                <a:schemeClr val="dk1"/>
              </a:solidFill>
              <a:latin typeface="Open Sans"/>
              <a:ea typeface="Open Sans"/>
              <a:cs typeface="Open Sans"/>
              <a:sym typeface="Open Sans"/>
            </a:endParaRPr>
          </a:p>
        </p:txBody>
      </p:sp>
      <p:sp>
        <p:nvSpPr>
          <p:cNvPr id="93" name="Google Shape;93;gc04a61d559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5501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c04a61d559_0_1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Open Sans"/>
              <a:buChar char="-"/>
            </a:pPr>
            <a:endParaRPr>
              <a:solidFill>
                <a:schemeClr val="dk1"/>
              </a:solidFill>
              <a:latin typeface="Open Sans"/>
              <a:ea typeface="Open Sans"/>
              <a:cs typeface="Open Sans"/>
              <a:sym typeface="Open Sans"/>
            </a:endParaRPr>
          </a:p>
        </p:txBody>
      </p:sp>
      <p:sp>
        <p:nvSpPr>
          <p:cNvPr id="100" name="Google Shape;100;gc04a61d559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547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c04a61d559_0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Open Sans"/>
              <a:buChar char="-"/>
            </a:pPr>
            <a:r>
              <a:rPr lang="fr-FR">
                <a:solidFill>
                  <a:schemeClr val="dk1"/>
                </a:solidFill>
                <a:latin typeface="Open Sans"/>
                <a:ea typeface="Open Sans"/>
                <a:cs typeface="Open Sans"/>
                <a:sym typeface="Open Sans"/>
              </a:rPr>
              <a:t>Faire sous forme de tableau technos cms services tiers </a:t>
            </a:r>
            <a:endParaRPr>
              <a:solidFill>
                <a:schemeClr val="dk1"/>
              </a:solidFill>
              <a:latin typeface="Open Sans"/>
              <a:ea typeface="Open Sans"/>
              <a:cs typeface="Open Sans"/>
              <a:sym typeface="Open Sans"/>
            </a:endParaRPr>
          </a:p>
        </p:txBody>
      </p:sp>
      <p:sp>
        <p:nvSpPr>
          <p:cNvPr id="107" name="Google Shape;107;gc04a61d559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8629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c04a61d559_0_1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Open Sans"/>
              <a:buChar char="-"/>
            </a:pPr>
            <a:endParaRPr>
              <a:solidFill>
                <a:schemeClr val="dk1"/>
              </a:solidFill>
              <a:latin typeface="Open Sans"/>
              <a:ea typeface="Open Sans"/>
              <a:cs typeface="Open Sans"/>
              <a:sym typeface="Open Sans"/>
            </a:endParaRPr>
          </a:p>
        </p:txBody>
      </p:sp>
      <p:sp>
        <p:nvSpPr>
          <p:cNvPr id="136" name="Google Shape;136;gc04a61d559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bb940216cc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FR" b="1"/>
              <a:t>Définir l’intention créative de notre projet  </a:t>
            </a:r>
            <a:endParaRPr b="1"/>
          </a:p>
          <a:p>
            <a:pPr marL="0" lvl="0" indent="0" algn="l" rtl="0">
              <a:lnSpc>
                <a:spcPct val="115000"/>
              </a:lnSpc>
              <a:spcBef>
                <a:spcPts val="0"/>
              </a:spcBef>
              <a:spcAft>
                <a:spcPts val="0"/>
              </a:spcAft>
              <a:buNone/>
            </a:pPr>
            <a:endParaRPr b="1"/>
          </a:p>
          <a:p>
            <a:pPr marL="0" lvl="0" indent="0" algn="l" rtl="0">
              <a:lnSpc>
                <a:spcPct val="115000"/>
              </a:lnSpc>
              <a:spcBef>
                <a:spcPts val="0"/>
              </a:spcBef>
              <a:spcAft>
                <a:spcPts val="0"/>
              </a:spcAft>
              <a:buNone/>
            </a:pPr>
            <a:endParaRPr b="1"/>
          </a:p>
        </p:txBody>
      </p:sp>
      <p:sp>
        <p:nvSpPr>
          <p:cNvPr id="93" name="Google Shape;93;gbb940216cc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bb940216cc_0_1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Open Sans"/>
              <a:buChar char="-"/>
            </a:pPr>
            <a:r>
              <a:rPr lang="fr-FR" b="1"/>
              <a:t>Planning : </a:t>
            </a:r>
            <a:r>
              <a:rPr lang="fr-FR"/>
              <a:t>vous pourrez peaufiner au fur et à mesure  </a:t>
            </a:r>
            <a:endParaRPr>
              <a:solidFill>
                <a:schemeClr val="dk1"/>
              </a:solidFill>
              <a:latin typeface="Open Sans"/>
              <a:ea typeface="Open Sans"/>
              <a:cs typeface="Open Sans"/>
              <a:sym typeface="Open Sans"/>
            </a:endParaRPr>
          </a:p>
        </p:txBody>
      </p:sp>
      <p:sp>
        <p:nvSpPr>
          <p:cNvPr id="142" name="Google Shape;142;gbb940216cc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bdbd05fa3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bdbd05fa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bd6994efb2_0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Open Sans"/>
              <a:buChar char="-"/>
            </a:pPr>
            <a:r>
              <a:rPr lang="fr-FR" sz="1400">
                <a:solidFill>
                  <a:schemeClr val="dk1"/>
                </a:solidFill>
                <a:latin typeface="Open Sans"/>
                <a:ea typeface="Open Sans"/>
                <a:cs typeface="Open Sans"/>
                <a:sym typeface="Open Sans"/>
              </a:rPr>
              <a:t>La complexité du produit : plus le produit est complexe plus il faudra aller dans les détails, une US doit être courte donc attention</a:t>
            </a:r>
            <a:endParaRPr sz="14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fr-FR" sz="1400">
                <a:solidFill>
                  <a:schemeClr val="dk1"/>
                </a:solidFill>
                <a:latin typeface="Open Sans"/>
                <a:ea typeface="Open Sans"/>
                <a:cs typeface="Open Sans"/>
                <a:sym typeface="Open Sans"/>
              </a:rPr>
              <a:t>Les d’interlocuteurs : si les utilisateurs sont digitaux et arrivent à se projeter sur les fonctionnalités transverses, alors les US c’est une bonne option, en revanche s’ils ont du mal à se projeter, s’ils sont moins digitaux, il est préférable de décrire écran par écran </a:t>
            </a:r>
            <a:endParaRPr sz="14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fr-FR" sz="1400">
                <a:solidFill>
                  <a:schemeClr val="dk1"/>
                </a:solidFill>
                <a:latin typeface="Open Sans"/>
                <a:ea typeface="Open Sans"/>
                <a:cs typeface="Open Sans"/>
                <a:sym typeface="Open Sans"/>
              </a:rPr>
              <a:t>La planning : si le planning est trop court, et qu’il faut rapidement enchaîner avec le dev, travailler directement sur le backlog permet de gagner du temps </a:t>
            </a:r>
            <a:endParaRPr>
              <a:solidFill>
                <a:schemeClr val="dk1"/>
              </a:solidFill>
              <a:latin typeface="Open Sans"/>
              <a:ea typeface="Open Sans"/>
              <a:cs typeface="Open Sans"/>
              <a:sym typeface="Open Sans"/>
            </a:endParaRPr>
          </a:p>
        </p:txBody>
      </p:sp>
      <p:sp>
        <p:nvSpPr>
          <p:cNvPr id="93" name="Google Shape;93;gbd6994efb2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bd6994efb2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solidFill>
                <a:schemeClr val="dk1"/>
              </a:solidFill>
              <a:latin typeface="Open Sans"/>
              <a:ea typeface="Open Sans"/>
              <a:cs typeface="Open Sans"/>
              <a:sym typeface="Open Sans"/>
            </a:endParaRPr>
          </a:p>
        </p:txBody>
      </p:sp>
      <p:sp>
        <p:nvSpPr>
          <p:cNvPr id="100" name="Google Shape;100;gbd6994efb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bd6994efb2_0_2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Open Sans"/>
              <a:ea typeface="Open Sans"/>
              <a:cs typeface="Open Sans"/>
              <a:sym typeface="Open Sans"/>
            </a:endParaRPr>
          </a:p>
        </p:txBody>
      </p:sp>
      <p:sp>
        <p:nvSpPr>
          <p:cNvPr id="107" name="Google Shape;107;gbd6994efb2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bd6994efb2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Open Sans"/>
              <a:ea typeface="Open Sans"/>
              <a:cs typeface="Open Sans"/>
              <a:sym typeface="Open Sans"/>
            </a:endParaRPr>
          </a:p>
        </p:txBody>
      </p:sp>
      <p:sp>
        <p:nvSpPr>
          <p:cNvPr id="117" name="Google Shape;117;gbd6994efb2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bd6994efb2_0_2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Open Sans"/>
              <a:ea typeface="Open Sans"/>
              <a:cs typeface="Open Sans"/>
              <a:sym typeface="Open Sans"/>
            </a:endParaRPr>
          </a:p>
        </p:txBody>
      </p:sp>
      <p:sp>
        <p:nvSpPr>
          <p:cNvPr id="124" name="Google Shape;124;gbd6994efb2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bd6994efb2_0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Open Sans"/>
              <a:ea typeface="Open Sans"/>
              <a:cs typeface="Open Sans"/>
              <a:sym typeface="Open Sans"/>
            </a:endParaRPr>
          </a:p>
        </p:txBody>
      </p:sp>
      <p:sp>
        <p:nvSpPr>
          <p:cNvPr id="133" name="Google Shape;133;gbd6994efb2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7f87e4b05395ed2c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7f87e4b05395ed2c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9031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7f87e4b05395ed2c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7f87e4b05395ed2c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0064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7f87e4b05395ed2c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7f87e4b05395ed2c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9856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6b84b6ad11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6b84b6ad11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1287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4020911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623539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4" r:id="rId5"/>
    <p:sldLayoutId id="2147483656" r:id="rId6"/>
    <p:sldLayoutId id="2147483657" r:id="rId7"/>
    <p:sldLayoutId id="2147483660" r:id="rId8"/>
    <p:sldLayoutId id="214748366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mma.kergo@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youtube.com/watch?v=4uJaZrtJqKk" TargetMode="Externa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hyperlink" Target="https://docs.google.com/spreadsheets/d/1-AmNozZEkULk1vEHcJgNYOev3pwJv_EcYBRT2nEH-OU/edit" TargetMode="Externa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734358" y="745965"/>
            <a:ext cx="3899198" cy="1119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3000" dirty="0">
                <a:latin typeface="Nunito"/>
                <a:ea typeface="Nunito"/>
                <a:cs typeface="Nunito"/>
                <a:sym typeface="Nunito"/>
              </a:rPr>
              <a:t>Cahier des charges   </a:t>
            </a:r>
            <a:endParaRPr sz="3000" dirty="0">
              <a:latin typeface="Nunito"/>
              <a:ea typeface="Nunito"/>
              <a:cs typeface="Nunito"/>
              <a:sym typeface="Nunito"/>
            </a:endParaRPr>
          </a:p>
        </p:txBody>
      </p:sp>
      <p:sp>
        <p:nvSpPr>
          <p:cNvPr id="63" name="Google Shape;63;p13"/>
          <p:cNvSpPr txBox="1">
            <a:spLocks noGrp="1"/>
          </p:cNvSpPr>
          <p:nvPr>
            <p:ph type="subTitle" idx="1"/>
          </p:nvPr>
        </p:nvSpPr>
        <p:spPr>
          <a:xfrm>
            <a:off x="1286934" y="3400534"/>
            <a:ext cx="5012988" cy="861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FR" sz="2400" dirty="0">
                <a:latin typeface="Nunito"/>
                <a:ea typeface="Nunito"/>
                <a:cs typeface="Nunito"/>
                <a:sym typeface="Nunito"/>
              </a:rPr>
              <a:t>M2 DEV – EFREI </a:t>
            </a:r>
          </a:p>
          <a:p>
            <a:pPr marL="0" lvl="0" indent="0" algn="r" rtl="0">
              <a:spcBef>
                <a:spcPts val="0"/>
              </a:spcBef>
              <a:spcAft>
                <a:spcPts val="0"/>
              </a:spcAft>
              <a:buNone/>
            </a:pPr>
            <a:r>
              <a:rPr lang="fr-FR" sz="2400" dirty="0">
                <a:latin typeface="Nunito"/>
                <a:ea typeface="Nunito"/>
                <a:cs typeface="Nunito"/>
                <a:sym typeface="Nunito"/>
              </a:rPr>
              <a:t>2025</a:t>
            </a:r>
            <a:endParaRPr sz="2400" dirty="0">
              <a:latin typeface="Nunito"/>
              <a:ea typeface="Nunito"/>
              <a:cs typeface="Nunito"/>
              <a:sym typeface="Nunito"/>
            </a:endParaRPr>
          </a:p>
        </p:txBody>
      </p:sp>
      <p:sp>
        <p:nvSpPr>
          <p:cNvPr id="64" name="Google Shape;64;p13"/>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dk1"/>
                </a:solidFill>
                <a:latin typeface="Economica"/>
                <a:ea typeface="Economica"/>
                <a:cs typeface="Economica"/>
                <a:sym typeface="Economica"/>
              </a:rPr>
              <a:t>1</a:t>
            </a:fld>
            <a:endParaRPr dirty="0">
              <a:solidFill>
                <a:schemeClr val="dk1"/>
              </a:solidFill>
              <a:latin typeface="Economica"/>
              <a:ea typeface="Economica"/>
              <a:cs typeface="Economica"/>
              <a:sym typeface="Economica"/>
            </a:endParaRPr>
          </a:p>
        </p:txBody>
      </p:sp>
      <p:sp>
        <p:nvSpPr>
          <p:cNvPr id="3" name="ZoneTexte 2">
            <a:extLst>
              <a:ext uri="{FF2B5EF4-FFF2-40B4-BE49-F238E27FC236}">
                <a16:creationId xmlns:a16="http://schemas.microsoft.com/office/drawing/2014/main" id="{94761D6B-29FE-8E8C-1B77-356671B73418}"/>
              </a:ext>
            </a:extLst>
          </p:cNvPr>
          <p:cNvSpPr txBox="1"/>
          <p:nvPr/>
        </p:nvSpPr>
        <p:spPr>
          <a:xfrm>
            <a:off x="122842" y="4706128"/>
            <a:ext cx="4572000" cy="307777"/>
          </a:xfrm>
          <a:prstGeom prst="rect">
            <a:avLst/>
          </a:prstGeom>
          <a:noFill/>
        </p:spPr>
        <p:txBody>
          <a:bodyPr wrap="square">
            <a:spAutoFit/>
          </a:bodyPr>
          <a:lstStyle/>
          <a:p>
            <a:pPr marL="0" lvl="0" indent="0" algn="l" rtl="0">
              <a:spcBef>
                <a:spcPts val="0"/>
              </a:spcBef>
              <a:spcAft>
                <a:spcPts val="0"/>
              </a:spcAft>
              <a:buClr>
                <a:srgbClr val="000000"/>
              </a:buClr>
              <a:buSzPts val="1400"/>
              <a:buFont typeface="Arial"/>
              <a:buNone/>
            </a:pPr>
            <a:r>
              <a:rPr lang="fr-FR" sz="1400" u="sng" dirty="0">
                <a:solidFill>
                  <a:schemeClr val="hlink"/>
                </a:solidFill>
                <a:highlight>
                  <a:srgbClr val="FFFFFF"/>
                </a:highlight>
                <a:latin typeface="Nunito"/>
                <a:ea typeface="Nunito"/>
                <a:cs typeface="Nunito"/>
                <a:sym typeface="Nunito"/>
                <a:hlinkClick r:id="rId3"/>
              </a:rPr>
              <a:t>emma.kergo@gmail.com</a:t>
            </a:r>
            <a:endParaRPr lang="fr-FR" sz="1400" dirty="0">
              <a:solidFill>
                <a:srgbClr val="555555"/>
              </a:solidFill>
              <a:highlight>
                <a:srgbClr val="FFFFFF"/>
              </a:highlight>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16"/>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3000" dirty="0">
                <a:latin typeface="Nunito"/>
                <a:ea typeface="Nunito"/>
                <a:cs typeface="Nunito"/>
                <a:sym typeface="Nunito"/>
              </a:rPr>
              <a:t>Cahier des charges </a:t>
            </a:r>
            <a:endParaRPr sz="3000" dirty="0">
              <a:latin typeface="Nunito"/>
              <a:ea typeface="Nunito"/>
              <a:cs typeface="Nunito"/>
              <a:sym typeface="Nunito"/>
            </a:endParaRPr>
          </a:p>
        </p:txBody>
      </p:sp>
      <p:sp>
        <p:nvSpPr>
          <p:cNvPr id="86" name="Google Shape;86;p16"/>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t>2</a:t>
            </a:fld>
            <a:endParaRPr/>
          </a:p>
        </p:txBody>
      </p:sp>
    </p:spTree>
    <p:extLst>
      <p:ext uri="{BB962C8B-B14F-4D97-AF65-F5344CB8AC3E}">
        <p14:creationId xmlns:p14="http://schemas.microsoft.com/office/powerpoint/2010/main" val="2364354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C6A284-ABF5-4191-87EC-46EB0946B906}"/>
              </a:ext>
            </a:extLst>
          </p:cNvPr>
          <p:cNvSpPr>
            <a:spLocks noGrp="1"/>
          </p:cNvSpPr>
          <p:nvPr>
            <p:ph type="title"/>
          </p:nvPr>
        </p:nvSpPr>
        <p:spPr/>
        <p:txBody>
          <a:bodyPr/>
          <a:lstStyle/>
          <a:p>
            <a:r>
              <a:rPr lang="fr-FR" sz="3200" dirty="0">
                <a:latin typeface="Nunito" pitchFamily="2" charset="77"/>
              </a:rPr>
              <a:t>Qu’est-ce qu’un cahier des charges (CDC) ? </a:t>
            </a:r>
          </a:p>
        </p:txBody>
      </p:sp>
      <p:sp>
        <p:nvSpPr>
          <p:cNvPr id="3" name="Espace réservé du texte 2">
            <a:extLst>
              <a:ext uri="{FF2B5EF4-FFF2-40B4-BE49-F238E27FC236}">
                <a16:creationId xmlns:a16="http://schemas.microsoft.com/office/drawing/2014/main" id="{469BEF28-93E7-4847-BF45-8A3836940D7C}"/>
              </a:ext>
            </a:extLst>
          </p:cNvPr>
          <p:cNvSpPr>
            <a:spLocks noGrp="1"/>
          </p:cNvSpPr>
          <p:nvPr>
            <p:ph type="body" idx="1"/>
          </p:nvPr>
        </p:nvSpPr>
        <p:spPr/>
        <p:txBody>
          <a:bodyPr/>
          <a:lstStyle/>
          <a:p>
            <a:r>
              <a:rPr lang="fr-FR" dirty="0"/>
              <a:t>Document essentiel à l'élaboration et la réalisation d'un projet.</a:t>
            </a:r>
          </a:p>
          <a:p>
            <a:pPr marL="114300" indent="0">
              <a:buNone/>
            </a:pPr>
            <a:endParaRPr lang="fr-FR" dirty="0"/>
          </a:p>
          <a:p>
            <a:r>
              <a:rPr lang="fr-FR" dirty="0"/>
              <a:t>Permet de formaliser les attentes et les besoins du client de manière exhaustive.</a:t>
            </a:r>
          </a:p>
          <a:p>
            <a:pPr marL="114300" indent="0">
              <a:buNone/>
            </a:pPr>
            <a:endParaRPr lang="fr-FR" dirty="0"/>
          </a:p>
          <a:p>
            <a:r>
              <a:rPr lang="fr-FR" dirty="0"/>
              <a:t>Liste les fonctionnalités du projet, spécifie, explique et délimite le projet ainsi que les conditions de sa réalisation (contraintes techniques, respect des normes, refonte de l’existant, fonctionnalités cible…) </a:t>
            </a:r>
          </a:p>
        </p:txBody>
      </p:sp>
      <p:sp>
        <p:nvSpPr>
          <p:cNvPr id="4" name="Espace réservé du numéro de diapositive 3">
            <a:extLst>
              <a:ext uri="{FF2B5EF4-FFF2-40B4-BE49-F238E27FC236}">
                <a16:creationId xmlns:a16="http://schemas.microsoft.com/office/drawing/2014/main" id="{6FF5F494-79D8-468E-BCDF-672714C445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a:t>
            </a:fld>
            <a:endParaRPr lang="fr-FR"/>
          </a:p>
        </p:txBody>
      </p:sp>
    </p:spTree>
    <p:extLst>
      <p:ext uri="{BB962C8B-B14F-4D97-AF65-F5344CB8AC3E}">
        <p14:creationId xmlns:p14="http://schemas.microsoft.com/office/powerpoint/2010/main" val="86920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FA6B42-FCAB-4834-8E33-D0F53152FC73}"/>
              </a:ext>
            </a:extLst>
          </p:cNvPr>
          <p:cNvSpPr>
            <a:spLocks noGrp="1"/>
          </p:cNvSpPr>
          <p:nvPr>
            <p:ph type="title"/>
          </p:nvPr>
        </p:nvSpPr>
        <p:spPr/>
        <p:txBody>
          <a:bodyPr/>
          <a:lstStyle/>
          <a:p>
            <a:r>
              <a:rPr lang="fr-FR" sz="3200" dirty="0">
                <a:latin typeface="Nunito" pitchFamily="2" charset="77"/>
              </a:rPr>
              <a:t>Les fonctions du CDC</a:t>
            </a:r>
          </a:p>
        </p:txBody>
      </p:sp>
      <p:sp>
        <p:nvSpPr>
          <p:cNvPr id="3" name="Espace réservé du texte 2">
            <a:extLst>
              <a:ext uri="{FF2B5EF4-FFF2-40B4-BE49-F238E27FC236}">
                <a16:creationId xmlns:a16="http://schemas.microsoft.com/office/drawing/2014/main" id="{2665DFFC-6F5F-4383-B288-FDCD7E75D3B1}"/>
              </a:ext>
            </a:extLst>
          </p:cNvPr>
          <p:cNvSpPr>
            <a:spLocks noGrp="1"/>
          </p:cNvSpPr>
          <p:nvPr>
            <p:ph type="body" idx="1"/>
          </p:nvPr>
        </p:nvSpPr>
        <p:spPr/>
        <p:txBody>
          <a:bodyPr/>
          <a:lstStyle/>
          <a:p>
            <a:r>
              <a:rPr lang="fr-FR" dirty="0"/>
              <a:t>Définir les caractéristiques d’un projet </a:t>
            </a:r>
          </a:p>
          <a:p>
            <a:r>
              <a:rPr lang="fr-FR" dirty="0"/>
              <a:t>Structurer un appel d’offre</a:t>
            </a:r>
          </a:p>
          <a:p>
            <a:r>
              <a:rPr lang="fr-FR" dirty="0"/>
              <a:t>Servir de support de référence technique fonctionnel </a:t>
            </a:r>
          </a:p>
          <a:p>
            <a:r>
              <a:rPr lang="fr-FR" dirty="0"/>
              <a:t>Maîtriser les risques financiers. </a:t>
            </a:r>
          </a:p>
          <a:p>
            <a:r>
              <a:rPr lang="fr-FR" dirty="0"/>
              <a:t>Décrire le contexte économique, les objectifs, établir un périmètre d’action, faire une description précise de ce à quoi il servira.</a:t>
            </a:r>
          </a:p>
          <a:p>
            <a:pPr marL="114300" indent="0">
              <a:buNone/>
            </a:pPr>
            <a:endParaRPr lang="fr-FR" dirty="0"/>
          </a:p>
        </p:txBody>
      </p:sp>
      <p:sp>
        <p:nvSpPr>
          <p:cNvPr id="4" name="Espace réservé du numéro de diapositive 3">
            <a:extLst>
              <a:ext uri="{FF2B5EF4-FFF2-40B4-BE49-F238E27FC236}">
                <a16:creationId xmlns:a16="http://schemas.microsoft.com/office/drawing/2014/main" id="{0260CC17-1DF6-436E-B767-FA600FE413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spTree>
    <p:extLst>
      <p:ext uri="{BB962C8B-B14F-4D97-AF65-F5344CB8AC3E}">
        <p14:creationId xmlns:p14="http://schemas.microsoft.com/office/powerpoint/2010/main" val="323801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B89D1C-EFF1-73B5-F231-DA0555090534}"/>
              </a:ext>
            </a:extLst>
          </p:cNvPr>
          <p:cNvSpPr>
            <a:spLocks noGrp="1"/>
          </p:cNvSpPr>
          <p:nvPr>
            <p:ph type="ctrTitle"/>
          </p:nvPr>
        </p:nvSpPr>
        <p:spPr>
          <a:xfrm>
            <a:off x="3044700" y="1803150"/>
            <a:ext cx="3054600" cy="1537200"/>
          </a:xfrm>
        </p:spPr>
        <p:txBody>
          <a:bodyPr/>
          <a:lstStyle/>
          <a:p>
            <a:r>
              <a:rPr lang="fr-FR" sz="3200" dirty="0">
                <a:latin typeface="Nunito" pitchFamily="2" charset="77"/>
              </a:rPr>
              <a:t>Détails éléments à avoir dans un CDC</a:t>
            </a:r>
          </a:p>
        </p:txBody>
      </p:sp>
      <p:sp>
        <p:nvSpPr>
          <p:cNvPr id="4" name="Espace réservé du numéro de diapositive 3">
            <a:extLst>
              <a:ext uri="{FF2B5EF4-FFF2-40B4-BE49-F238E27FC236}">
                <a16:creationId xmlns:a16="http://schemas.microsoft.com/office/drawing/2014/main" id="{265D129A-3933-64D2-EEAA-63DB86A1E8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spTree>
    <p:extLst>
      <p:ext uri="{BB962C8B-B14F-4D97-AF65-F5344CB8AC3E}">
        <p14:creationId xmlns:p14="http://schemas.microsoft.com/office/powerpoint/2010/main" val="1468572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134C95-D874-4D6E-A8F1-282465596A75}"/>
              </a:ext>
            </a:extLst>
          </p:cNvPr>
          <p:cNvSpPr>
            <a:spLocks noGrp="1"/>
          </p:cNvSpPr>
          <p:nvPr>
            <p:ph type="title"/>
          </p:nvPr>
        </p:nvSpPr>
        <p:spPr>
          <a:xfrm>
            <a:off x="311700" y="393925"/>
            <a:ext cx="8520600" cy="831300"/>
          </a:xfrm>
        </p:spPr>
        <p:txBody>
          <a:bodyPr/>
          <a:lstStyle/>
          <a:p>
            <a:r>
              <a:rPr lang="fr-FR" sz="3200" dirty="0">
                <a:latin typeface="Nunito" pitchFamily="2" charset="77"/>
              </a:rPr>
              <a:t>1</a:t>
            </a:r>
            <a:r>
              <a:rPr lang="fr-FR" sz="3200" baseline="30000" dirty="0">
                <a:latin typeface="Nunito" pitchFamily="2" charset="77"/>
              </a:rPr>
              <a:t>ère</a:t>
            </a:r>
            <a:r>
              <a:rPr lang="fr-FR" sz="3200" dirty="0">
                <a:latin typeface="Nunito" pitchFamily="2" charset="77"/>
              </a:rPr>
              <a:t> étape : Page de présentation du document</a:t>
            </a:r>
          </a:p>
        </p:txBody>
      </p:sp>
      <p:sp>
        <p:nvSpPr>
          <p:cNvPr id="3" name="Espace réservé du texte 2">
            <a:extLst>
              <a:ext uri="{FF2B5EF4-FFF2-40B4-BE49-F238E27FC236}">
                <a16:creationId xmlns:a16="http://schemas.microsoft.com/office/drawing/2014/main" id="{8A1E94FA-DE78-4D68-8AA3-B9DD8D9051C5}"/>
              </a:ext>
            </a:extLst>
          </p:cNvPr>
          <p:cNvSpPr>
            <a:spLocks noGrp="1"/>
          </p:cNvSpPr>
          <p:nvPr>
            <p:ph type="body" idx="1"/>
          </p:nvPr>
        </p:nvSpPr>
        <p:spPr/>
        <p:txBody>
          <a:bodyPr/>
          <a:lstStyle/>
          <a:p>
            <a:r>
              <a:rPr lang="fr-FR" dirty="0"/>
              <a:t>Nom entreprise/projet</a:t>
            </a:r>
          </a:p>
          <a:p>
            <a:r>
              <a:rPr lang="fr-FR" dirty="0"/>
              <a:t>Date (2025)</a:t>
            </a:r>
          </a:p>
          <a:p>
            <a:r>
              <a:rPr lang="fr-FR" dirty="0"/>
              <a:t>Objet du cahier des charges (Ex: Création site internet…) </a:t>
            </a:r>
          </a:p>
        </p:txBody>
      </p:sp>
      <p:sp>
        <p:nvSpPr>
          <p:cNvPr id="4" name="Espace réservé du numéro de diapositive 3">
            <a:extLst>
              <a:ext uri="{FF2B5EF4-FFF2-40B4-BE49-F238E27FC236}">
                <a16:creationId xmlns:a16="http://schemas.microsoft.com/office/drawing/2014/main" id="{62035855-1FE6-4874-AE27-84F6483383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a:p>
        </p:txBody>
      </p:sp>
    </p:spTree>
    <p:extLst>
      <p:ext uri="{BB962C8B-B14F-4D97-AF65-F5344CB8AC3E}">
        <p14:creationId xmlns:p14="http://schemas.microsoft.com/office/powerpoint/2010/main" val="1258727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931377-A091-4DF6-8DCE-8E3700276BA8}"/>
              </a:ext>
            </a:extLst>
          </p:cNvPr>
          <p:cNvSpPr>
            <a:spLocks noGrp="1"/>
          </p:cNvSpPr>
          <p:nvPr>
            <p:ph type="title"/>
          </p:nvPr>
        </p:nvSpPr>
        <p:spPr>
          <a:xfrm>
            <a:off x="226208" y="105600"/>
            <a:ext cx="8520600" cy="831300"/>
          </a:xfrm>
        </p:spPr>
        <p:txBody>
          <a:bodyPr/>
          <a:lstStyle/>
          <a:p>
            <a:r>
              <a:rPr lang="fr-FR" sz="3200" dirty="0">
                <a:latin typeface="Nunito" pitchFamily="2" charset="77"/>
              </a:rPr>
              <a:t>2</a:t>
            </a:r>
            <a:r>
              <a:rPr lang="fr-FR" sz="3200" baseline="30000" dirty="0">
                <a:latin typeface="Nunito" pitchFamily="2" charset="77"/>
              </a:rPr>
              <a:t>ième</a:t>
            </a:r>
            <a:r>
              <a:rPr lang="fr-FR" sz="3200" dirty="0">
                <a:latin typeface="Nunito" pitchFamily="2" charset="77"/>
              </a:rPr>
              <a:t> étape: Sommaire</a:t>
            </a:r>
          </a:p>
        </p:txBody>
      </p:sp>
      <p:sp>
        <p:nvSpPr>
          <p:cNvPr id="4" name="Espace réservé du numéro de diapositive 3">
            <a:extLst>
              <a:ext uri="{FF2B5EF4-FFF2-40B4-BE49-F238E27FC236}">
                <a16:creationId xmlns:a16="http://schemas.microsoft.com/office/drawing/2014/main" id="{82B92EE0-7CD5-448A-A6F0-E473E3FD4C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sp>
        <p:nvSpPr>
          <p:cNvPr id="7" name="Rectangle 6">
            <a:extLst>
              <a:ext uri="{FF2B5EF4-FFF2-40B4-BE49-F238E27FC236}">
                <a16:creationId xmlns:a16="http://schemas.microsoft.com/office/drawing/2014/main" id="{86279F52-B686-482F-BE99-45C7742709E2}"/>
              </a:ext>
            </a:extLst>
          </p:cNvPr>
          <p:cNvSpPr/>
          <p:nvPr/>
        </p:nvSpPr>
        <p:spPr>
          <a:xfrm>
            <a:off x="2908300" y="1466850"/>
            <a:ext cx="812800" cy="88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13725B7-4249-40A5-842A-626C3C9826A1}"/>
              </a:ext>
            </a:extLst>
          </p:cNvPr>
          <p:cNvSpPr/>
          <p:nvPr/>
        </p:nvSpPr>
        <p:spPr>
          <a:xfrm>
            <a:off x="2908300" y="1593850"/>
            <a:ext cx="812800" cy="88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9EA2B7F6-CA2D-40C7-A574-C851C6DB1EB3}"/>
              </a:ext>
            </a:extLst>
          </p:cNvPr>
          <p:cNvSpPr/>
          <p:nvPr/>
        </p:nvSpPr>
        <p:spPr>
          <a:xfrm>
            <a:off x="2917825" y="1720850"/>
            <a:ext cx="812800" cy="88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F7C67BB1-49A9-4C57-89E4-AF643C5BF36C}"/>
              </a:ext>
            </a:extLst>
          </p:cNvPr>
          <p:cNvSpPr/>
          <p:nvPr/>
        </p:nvSpPr>
        <p:spPr>
          <a:xfrm>
            <a:off x="2911475" y="1847850"/>
            <a:ext cx="812800" cy="88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EE55A130-7B90-4FFF-A7FB-ED8DEC44B51D}"/>
              </a:ext>
            </a:extLst>
          </p:cNvPr>
          <p:cNvSpPr/>
          <p:nvPr/>
        </p:nvSpPr>
        <p:spPr>
          <a:xfrm>
            <a:off x="2908300" y="2184400"/>
            <a:ext cx="812800" cy="88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9DB0784-1ADD-4209-B0AE-0FD7DAD07487}"/>
              </a:ext>
            </a:extLst>
          </p:cNvPr>
          <p:cNvSpPr/>
          <p:nvPr/>
        </p:nvSpPr>
        <p:spPr>
          <a:xfrm>
            <a:off x="4318000" y="2184400"/>
            <a:ext cx="812800" cy="88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2">
            <a:extLst>
              <a:ext uri="{FF2B5EF4-FFF2-40B4-BE49-F238E27FC236}">
                <a16:creationId xmlns:a16="http://schemas.microsoft.com/office/drawing/2014/main" id="{FBE28C9F-89FB-43EC-85F9-D168E0F3F929}"/>
              </a:ext>
            </a:extLst>
          </p:cNvPr>
          <p:cNvSpPr>
            <a:spLocks noGrp="1"/>
          </p:cNvSpPr>
          <p:nvPr>
            <p:ph type="body" idx="1"/>
          </p:nvPr>
        </p:nvSpPr>
        <p:spPr>
          <a:xfrm>
            <a:off x="311700" y="1225225"/>
            <a:ext cx="8520600" cy="3354000"/>
          </a:xfrm>
        </p:spPr>
        <p:txBody>
          <a:bodyPr/>
          <a:lstStyle/>
          <a:p>
            <a:r>
              <a:rPr lang="fr-FR" dirty="0"/>
              <a:t>Intégrer un sommaire pour avoir les grandes points du CDC avec les numéros de pages associés. </a:t>
            </a:r>
          </a:p>
        </p:txBody>
      </p:sp>
    </p:spTree>
    <p:extLst>
      <p:ext uri="{BB962C8B-B14F-4D97-AF65-F5344CB8AC3E}">
        <p14:creationId xmlns:p14="http://schemas.microsoft.com/office/powerpoint/2010/main" val="914733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828E7-A321-4B34-8B87-9AB351305C4C}"/>
              </a:ext>
            </a:extLst>
          </p:cNvPr>
          <p:cNvSpPr>
            <a:spLocks noGrp="1"/>
          </p:cNvSpPr>
          <p:nvPr>
            <p:ph type="title"/>
          </p:nvPr>
        </p:nvSpPr>
        <p:spPr>
          <a:xfrm>
            <a:off x="456841" y="1123211"/>
            <a:ext cx="3491042" cy="755700"/>
          </a:xfrm>
        </p:spPr>
        <p:txBody>
          <a:bodyPr/>
          <a:lstStyle/>
          <a:p>
            <a:r>
              <a:rPr lang="fr-FR" b="1" dirty="0"/>
              <a:t>Entreprise</a:t>
            </a:r>
          </a:p>
        </p:txBody>
      </p:sp>
      <p:sp>
        <p:nvSpPr>
          <p:cNvPr id="3" name="Espace réservé du texte 2">
            <a:extLst>
              <a:ext uri="{FF2B5EF4-FFF2-40B4-BE49-F238E27FC236}">
                <a16:creationId xmlns:a16="http://schemas.microsoft.com/office/drawing/2014/main" id="{2A1A8636-880E-43CA-93F3-C6FFA6DB8EB3}"/>
              </a:ext>
            </a:extLst>
          </p:cNvPr>
          <p:cNvSpPr>
            <a:spLocks noGrp="1"/>
          </p:cNvSpPr>
          <p:nvPr>
            <p:ph type="body" idx="1"/>
          </p:nvPr>
        </p:nvSpPr>
        <p:spPr>
          <a:xfrm>
            <a:off x="456840" y="2042675"/>
            <a:ext cx="3491043" cy="2784900"/>
          </a:xfrm>
        </p:spPr>
        <p:txBody>
          <a:bodyPr/>
          <a:lstStyle/>
          <a:p>
            <a:r>
              <a:rPr lang="fr-FR" dirty="0"/>
              <a:t>En quelques lignes présentation de l’entreprise et de ses activités</a:t>
            </a:r>
          </a:p>
          <a:p>
            <a:r>
              <a:rPr lang="fr-FR" dirty="0"/>
              <a:t>+ présentation de l’équipe qui travaille sur le projet </a:t>
            </a:r>
          </a:p>
          <a:p>
            <a:pPr marL="152400" indent="0">
              <a:buNone/>
            </a:pPr>
            <a:endParaRPr lang="fr-FR" dirty="0"/>
          </a:p>
        </p:txBody>
      </p:sp>
      <p:sp>
        <p:nvSpPr>
          <p:cNvPr id="4" name="Espace réservé du numéro de diapositive 3">
            <a:extLst>
              <a:ext uri="{FF2B5EF4-FFF2-40B4-BE49-F238E27FC236}">
                <a16:creationId xmlns:a16="http://schemas.microsoft.com/office/drawing/2014/main" id="{A79CA40C-2823-4CE4-85D9-B583945DC1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sp>
        <p:nvSpPr>
          <p:cNvPr id="5" name="Titre 1">
            <a:extLst>
              <a:ext uri="{FF2B5EF4-FFF2-40B4-BE49-F238E27FC236}">
                <a16:creationId xmlns:a16="http://schemas.microsoft.com/office/drawing/2014/main" id="{B98DC0F8-C357-4561-AD19-16CB2D9CAC24}"/>
              </a:ext>
            </a:extLst>
          </p:cNvPr>
          <p:cNvSpPr txBox="1">
            <a:spLocks/>
          </p:cNvSpPr>
          <p:nvPr/>
        </p:nvSpPr>
        <p:spPr>
          <a:xfrm>
            <a:off x="311700" y="321926"/>
            <a:ext cx="8520600" cy="831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9pPr>
          </a:lstStyle>
          <a:p>
            <a:r>
              <a:rPr lang="fr-FR" sz="3200" dirty="0">
                <a:latin typeface="Nunito" pitchFamily="2" charset="77"/>
              </a:rPr>
              <a:t>3</a:t>
            </a:r>
            <a:r>
              <a:rPr lang="fr-FR" sz="3200" baseline="30000" dirty="0">
                <a:latin typeface="Nunito" pitchFamily="2" charset="77"/>
              </a:rPr>
              <a:t>ième</a:t>
            </a:r>
            <a:r>
              <a:rPr lang="fr-FR" sz="3200" dirty="0">
                <a:latin typeface="Nunito" pitchFamily="2" charset="77"/>
              </a:rPr>
              <a:t> étape : Présentation de l’entreprise/projet</a:t>
            </a:r>
          </a:p>
        </p:txBody>
      </p:sp>
      <p:sp>
        <p:nvSpPr>
          <p:cNvPr id="8" name="Titre 1">
            <a:extLst>
              <a:ext uri="{FF2B5EF4-FFF2-40B4-BE49-F238E27FC236}">
                <a16:creationId xmlns:a16="http://schemas.microsoft.com/office/drawing/2014/main" id="{92180CE8-4AEE-47DE-8943-15859616337B}"/>
              </a:ext>
            </a:extLst>
          </p:cNvPr>
          <p:cNvSpPr txBox="1">
            <a:spLocks/>
          </p:cNvSpPr>
          <p:nvPr/>
        </p:nvSpPr>
        <p:spPr>
          <a:xfrm>
            <a:off x="4981416" y="1045939"/>
            <a:ext cx="3491042" cy="75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3000"/>
              <a:buFont typeface="Economica"/>
              <a:buNone/>
              <a:defRPr sz="3000" b="0" i="0" u="none" strike="noStrike" cap="none">
                <a:solidFill>
                  <a:schemeClr val="dk1"/>
                </a:solidFill>
                <a:latin typeface="Economica"/>
                <a:ea typeface="Economica"/>
                <a:cs typeface="Economica"/>
                <a:sym typeface="Economica"/>
              </a:defRPr>
            </a:lvl9pPr>
          </a:lstStyle>
          <a:p>
            <a:r>
              <a:rPr lang="fr-FR" b="1" dirty="0"/>
              <a:t>Projet</a:t>
            </a:r>
          </a:p>
        </p:txBody>
      </p:sp>
      <p:sp>
        <p:nvSpPr>
          <p:cNvPr id="9" name="Espace réservé du texte 2">
            <a:extLst>
              <a:ext uri="{FF2B5EF4-FFF2-40B4-BE49-F238E27FC236}">
                <a16:creationId xmlns:a16="http://schemas.microsoft.com/office/drawing/2014/main" id="{71809682-AE06-4BF2-9CF0-84B0E874B875}"/>
              </a:ext>
            </a:extLst>
          </p:cNvPr>
          <p:cNvSpPr txBox="1">
            <a:spLocks/>
          </p:cNvSpPr>
          <p:nvPr/>
        </p:nvSpPr>
        <p:spPr>
          <a:xfrm>
            <a:off x="4981415" y="1965403"/>
            <a:ext cx="3491043" cy="2784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1pPr>
            <a:lvl2pPr marL="914400" marR="0" lvl="1"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15000"/>
              </a:lnSpc>
              <a:spcBef>
                <a:spcPts val="1600"/>
              </a:spcBef>
              <a:spcAft>
                <a:spcPts val="160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9pPr>
          </a:lstStyle>
          <a:p>
            <a:r>
              <a:rPr lang="fr-FR" dirty="0"/>
              <a:t>Décrire le projet</a:t>
            </a:r>
          </a:p>
          <a:p>
            <a:r>
              <a:rPr lang="fr-FR" dirty="0"/>
              <a:t>Détailler le contexte du projet : Pourquoi ce projet? Comment en êtes vous arrivé là? </a:t>
            </a:r>
          </a:p>
          <a:p>
            <a:r>
              <a:rPr lang="fr-FR" dirty="0"/>
              <a:t>Si création d’un site : Diagnostic de ce qui existe à l’heure actuel sur le marché (étude concurrentielle / analyse du marché) </a:t>
            </a:r>
          </a:p>
          <a:p>
            <a:pPr marL="152400" indent="0">
              <a:buFont typeface="Open Sans"/>
              <a:buNone/>
            </a:pPr>
            <a:endParaRPr lang="fr-FR" dirty="0"/>
          </a:p>
        </p:txBody>
      </p:sp>
    </p:spTree>
    <p:extLst>
      <p:ext uri="{BB962C8B-B14F-4D97-AF65-F5344CB8AC3E}">
        <p14:creationId xmlns:p14="http://schemas.microsoft.com/office/powerpoint/2010/main" val="4224258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22074E-AE3C-403D-8E68-BC65FD1E3742}"/>
              </a:ext>
            </a:extLst>
          </p:cNvPr>
          <p:cNvSpPr>
            <a:spLocks noGrp="1"/>
          </p:cNvSpPr>
          <p:nvPr>
            <p:ph type="title"/>
          </p:nvPr>
        </p:nvSpPr>
        <p:spPr/>
        <p:txBody>
          <a:bodyPr/>
          <a:lstStyle/>
          <a:p>
            <a:r>
              <a:rPr lang="fr-FR" sz="3200" dirty="0">
                <a:latin typeface="Nunito" pitchFamily="2" charset="77"/>
              </a:rPr>
              <a:t>4</a:t>
            </a:r>
            <a:r>
              <a:rPr lang="fr-FR" sz="3200" baseline="30000" dirty="0">
                <a:latin typeface="Nunito" pitchFamily="2" charset="77"/>
              </a:rPr>
              <a:t>ième</a:t>
            </a:r>
            <a:r>
              <a:rPr lang="fr-FR" sz="3200" dirty="0">
                <a:latin typeface="Nunito" pitchFamily="2" charset="77"/>
              </a:rPr>
              <a:t> étape : Définir les objectifs du projet 1/5</a:t>
            </a:r>
          </a:p>
        </p:txBody>
      </p:sp>
      <p:sp>
        <p:nvSpPr>
          <p:cNvPr id="3" name="Espace réservé du texte 2">
            <a:extLst>
              <a:ext uri="{FF2B5EF4-FFF2-40B4-BE49-F238E27FC236}">
                <a16:creationId xmlns:a16="http://schemas.microsoft.com/office/drawing/2014/main" id="{781FB1C0-9B7C-4A20-BD47-104B688BB958}"/>
              </a:ext>
            </a:extLst>
          </p:cNvPr>
          <p:cNvSpPr>
            <a:spLocks noGrp="1"/>
          </p:cNvSpPr>
          <p:nvPr>
            <p:ph type="body" idx="1"/>
          </p:nvPr>
        </p:nvSpPr>
        <p:spPr/>
        <p:txBody>
          <a:bodyPr/>
          <a:lstStyle/>
          <a:p>
            <a:r>
              <a:rPr lang="fr-FR" b="1" dirty="0"/>
              <a:t>Un objectif : </a:t>
            </a:r>
            <a:r>
              <a:rPr lang="fr-FR" dirty="0"/>
              <a:t>Ce que vous cherchez à atteindre ou obtenir à la fin de votre projet. C’est votre résultat attendu. </a:t>
            </a:r>
          </a:p>
          <a:p>
            <a:pPr marL="114300" indent="0">
              <a:buNone/>
            </a:pPr>
            <a:endParaRPr lang="fr-FR" dirty="0"/>
          </a:p>
          <a:p>
            <a:r>
              <a:rPr lang="fr-FR" b="1" dirty="0"/>
              <a:t>Exemples d’objectifs : </a:t>
            </a:r>
            <a:r>
              <a:rPr lang="fr-FR" dirty="0"/>
              <a:t>Cela peut être des livrables ou des ressources, mais aussi des objectifs plus intangibles comme une augmentation de la productivité ou de la motivation.</a:t>
            </a:r>
          </a:p>
        </p:txBody>
      </p:sp>
      <p:sp>
        <p:nvSpPr>
          <p:cNvPr id="4" name="Espace réservé du numéro de diapositive 3">
            <a:extLst>
              <a:ext uri="{FF2B5EF4-FFF2-40B4-BE49-F238E27FC236}">
                <a16:creationId xmlns:a16="http://schemas.microsoft.com/office/drawing/2014/main" id="{3D9D6C1D-A9E1-4E25-8F3D-BEEF99DF76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spTree>
    <p:extLst>
      <p:ext uri="{BB962C8B-B14F-4D97-AF65-F5344CB8AC3E}">
        <p14:creationId xmlns:p14="http://schemas.microsoft.com/office/powerpoint/2010/main" val="2363158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4856B6-7998-4B7A-8EA0-87C43B89B9D9}"/>
              </a:ext>
            </a:extLst>
          </p:cNvPr>
          <p:cNvSpPr>
            <a:spLocks noGrp="1"/>
          </p:cNvSpPr>
          <p:nvPr>
            <p:ph type="title"/>
          </p:nvPr>
        </p:nvSpPr>
        <p:spPr/>
        <p:txBody>
          <a:bodyPr/>
          <a:lstStyle/>
          <a:p>
            <a:r>
              <a:rPr lang="fr-FR" sz="3200" dirty="0">
                <a:latin typeface="Nunito" pitchFamily="2" charset="77"/>
              </a:rPr>
              <a:t>4</a:t>
            </a:r>
            <a:r>
              <a:rPr lang="fr-FR" sz="3200" baseline="30000" dirty="0">
                <a:latin typeface="Nunito" pitchFamily="2" charset="77"/>
              </a:rPr>
              <a:t>ième</a:t>
            </a:r>
            <a:r>
              <a:rPr lang="fr-FR" sz="3200" dirty="0">
                <a:latin typeface="Nunito" pitchFamily="2" charset="77"/>
              </a:rPr>
              <a:t> étape : Définir les objectifs du projet 2/5</a:t>
            </a:r>
          </a:p>
        </p:txBody>
      </p:sp>
      <p:sp>
        <p:nvSpPr>
          <p:cNvPr id="3" name="Espace réservé du texte 2">
            <a:extLst>
              <a:ext uri="{FF2B5EF4-FFF2-40B4-BE49-F238E27FC236}">
                <a16:creationId xmlns:a16="http://schemas.microsoft.com/office/drawing/2014/main" id="{5F6708FC-818F-3726-82DB-40D8F33B8704}"/>
              </a:ext>
            </a:extLst>
          </p:cNvPr>
          <p:cNvSpPr>
            <a:spLocks noGrp="1"/>
          </p:cNvSpPr>
          <p:nvPr>
            <p:ph type="body" idx="1"/>
          </p:nvPr>
        </p:nvSpPr>
        <p:spPr/>
        <p:txBody>
          <a:bodyPr/>
          <a:lstStyle/>
          <a:p>
            <a:pPr marL="114300" indent="0" fontAlgn="base">
              <a:buNone/>
            </a:pPr>
            <a:r>
              <a:rPr lang="fr-FR" b="1" dirty="0"/>
              <a:t>Exemple </a:t>
            </a:r>
          </a:p>
          <a:p>
            <a:pPr fontAlgn="base"/>
            <a:r>
              <a:rPr lang="fr-FR" dirty="0"/>
              <a:t>Pour un projet de refonte de site internet. </a:t>
            </a:r>
            <a:r>
              <a:rPr lang="fr-FR" b="1" dirty="0"/>
              <a:t>Besoin : </a:t>
            </a:r>
            <a:r>
              <a:rPr lang="fr-FR" dirty="0"/>
              <a:t>développement de la vente en ligne des produits.</a:t>
            </a:r>
          </a:p>
          <a:p>
            <a:pPr fontAlgn="base"/>
            <a:r>
              <a:rPr lang="fr-FR" b="1" dirty="0"/>
              <a:t>Objectif premier : </a:t>
            </a:r>
            <a:r>
              <a:rPr lang="fr-FR" dirty="0"/>
              <a:t>La mise en place d’une boutique e-commerce sur votre site.</a:t>
            </a:r>
          </a:p>
          <a:p>
            <a:pPr fontAlgn="base"/>
            <a:r>
              <a:rPr lang="fr-FR" b="1" dirty="0"/>
              <a:t>Objectifs secondaires : </a:t>
            </a:r>
          </a:p>
          <a:p>
            <a:pPr marL="114300" indent="0" fontAlgn="base">
              <a:buNone/>
            </a:pPr>
            <a:r>
              <a:rPr lang="fr-FR" b="1" dirty="0"/>
              <a:t>1.</a:t>
            </a:r>
            <a:r>
              <a:rPr lang="fr-FR" dirty="0"/>
              <a:t>Inclure la possibilité de retirer la commande en magasin ;</a:t>
            </a:r>
          </a:p>
          <a:p>
            <a:pPr marL="114300" indent="0" fontAlgn="base">
              <a:buNone/>
            </a:pPr>
            <a:r>
              <a:rPr lang="fr-FR" b="1" dirty="0"/>
              <a:t>2.</a:t>
            </a:r>
            <a:r>
              <a:rPr lang="fr-FR" dirty="0"/>
              <a:t>Prendre en charge tel ou tel moyen de paiement ;</a:t>
            </a:r>
          </a:p>
          <a:p>
            <a:pPr marL="114300" indent="0" fontAlgn="base">
              <a:buNone/>
            </a:pPr>
            <a:r>
              <a:rPr lang="fr-FR" b="1" dirty="0"/>
              <a:t>3.</a:t>
            </a:r>
            <a:r>
              <a:rPr lang="fr-FR" dirty="0"/>
              <a:t>Rendre la boutique accessible sur mobile…</a:t>
            </a:r>
          </a:p>
          <a:p>
            <a:pPr fontAlgn="base"/>
            <a:endParaRPr lang="fr-FR" dirty="0"/>
          </a:p>
          <a:p>
            <a:endParaRPr lang="fr-FR" dirty="0"/>
          </a:p>
        </p:txBody>
      </p:sp>
      <p:sp>
        <p:nvSpPr>
          <p:cNvPr id="4" name="Espace réservé du numéro de diapositive 3">
            <a:extLst>
              <a:ext uri="{FF2B5EF4-FFF2-40B4-BE49-F238E27FC236}">
                <a16:creationId xmlns:a16="http://schemas.microsoft.com/office/drawing/2014/main" id="{D8426375-D0E3-201D-F52C-578F295C37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spTree>
    <p:extLst>
      <p:ext uri="{BB962C8B-B14F-4D97-AF65-F5344CB8AC3E}">
        <p14:creationId xmlns:p14="http://schemas.microsoft.com/office/powerpoint/2010/main" val="1919669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223F9E-4839-BB10-0061-F3E392D805E1}"/>
              </a:ext>
            </a:extLst>
          </p:cNvPr>
          <p:cNvSpPr>
            <a:spLocks noGrp="1"/>
          </p:cNvSpPr>
          <p:nvPr>
            <p:ph type="title"/>
          </p:nvPr>
        </p:nvSpPr>
        <p:spPr/>
        <p:txBody>
          <a:bodyPr/>
          <a:lstStyle/>
          <a:p>
            <a:r>
              <a:rPr lang="fr-FR" sz="3200" dirty="0">
                <a:latin typeface="Nunito" pitchFamily="2" charset="77"/>
              </a:rPr>
              <a:t>4</a:t>
            </a:r>
            <a:r>
              <a:rPr lang="fr-FR" sz="3200" baseline="30000" dirty="0">
                <a:latin typeface="Nunito" pitchFamily="2" charset="77"/>
              </a:rPr>
              <a:t>ième</a:t>
            </a:r>
            <a:r>
              <a:rPr lang="fr-FR" sz="3200" dirty="0">
                <a:latin typeface="Nunito" pitchFamily="2" charset="77"/>
              </a:rPr>
              <a:t> étape : Définir les objectifs du projet 3/5</a:t>
            </a:r>
          </a:p>
        </p:txBody>
      </p:sp>
      <p:sp>
        <p:nvSpPr>
          <p:cNvPr id="3" name="Espace réservé du texte 2">
            <a:extLst>
              <a:ext uri="{FF2B5EF4-FFF2-40B4-BE49-F238E27FC236}">
                <a16:creationId xmlns:a16="http://schemas.microsoft.com/office/drawing/2014/main" id="{48E0AB89-68AD-8685-E740-104AE09F3DFB}"/>
              </a:ext>
            </a:extLst>
          </p:cNvPr>
          <p:cNvSpPr>
            <a:spLocks noGrp="1"/>
          </p:cNvSpPr>
          <p:nvPr>
            <p:ph type="body" idx="1"/>
          </p:nvPr>
        </p:nvSpPr>
        <p:spPr/>
        <p:txBody>
          <a:bodyPr/>
          <a:lstStyle/>
          <a:p>
            <a:pPr fontAlgn="base"/>
            <a:r>
              <a:rPr lang="fr-FR" dirty="0"/>
              <a:t>Utilisation de la méthode SMART</a:t>
            </a:r>
          </a:p>
          <a:p>
            <a:pPr fontAlgn="base"/>
            <a:r>
              <a:rPr lang="fr-FR" dirty="0"/>
              <a:t>SMART = Acronyme pour Spécifique, Mesurable, Acceptable, Réaliste, Temporellement défini.</a:t>
            </a:r>
          </a:p>
          <a:p>
            <a:pPr fontAlgn="base"/>
            <a:r>
              <a:rPr lang="fr-FR" dirty="0"/>
              <a:t>Ces 5 critères caractérisent un bon objectif, un but clair, précis et compréhensible. </a:t>
            </a:r>
          </a:p>
          <a:p>
            <a:endParaRPr lang="fr-FR" dirty="0"/>
          </a:p>
        </p:txBody>
      </p:sp>
      <p:pic>
        <p:nvPicPr>
          <p:cNvPr id="6" name="Image 5">
            <a:extLst>
              <a:ext uri="{FF2B5EF4-FFF2-40B4-BE49-F238E27FC236}">
                <a16:creationId xmlns:a16="http://schemas.microsoft.com/office/drawing/2014/main" id="{81D3C69C-B9F5-9FAE-2458-197D2B995FE8}"/>
              </a:ext>
            </a:extLst>
          </p:cNvPr>
          <p:cNvPicPr>
            <a:picLocks noChangeAspect="1"/>
          </p:cNvPicPr>
          <p:nvPr/>
        </p:nvPicPr>
        <p:blipFill>
          <a:blip r:embed="rId2"/>
          <a:stretch>
            <a:fillRect/>
          </a:stretch>
        </p:blipFill>
        <p:spPr>
          <a:xfrm>
            <a:off x="4389131" y="1572759"/>
            <a:ext cx="4632027" cy="2658931"/>
          </a:xfrm>
          <a:prstGeom prst="rect">
            <a:avLst/>
          </a:prstGeom>
        </p:spPr>
      </p:pic>
      <p:sp>
        <p:nvSpPr>
          <p:cNvPr id="5" name="Espace réservé du numéro de diapositive 4">
            <a:extLst>
              <a:ext uri="{FF2B5EF4-FFF2-40B4-BE49-F238E27FC236}">
                <a16:creationId xmlns:a16="http://schemas.microsoft.com/office/drawing/2014/main" id="{C835F092-E679-4188-7EFF-AD74A9D4F8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spTree>
    <p:extLst>
      <p:ext uri="{BB962C8B-B14F-4D97-AF65-F5344CB8AC3E}">
        <p14:creationId xmlns:p14="http://schemas.microsoft.com/office/powerpoint/2010/main" val="1420670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39F1-541D-B717-A2A3-FAEAC526759E}"/>
              </a:ext>
            </a:extLst>
          </p:cNvPr>
          <p:cNvSpPr>
            <a:spLocks noGrp="1"/>
          </p:cNvSpPr>
          <p:nvPr>
            <p:ph type="title"/>
          </p:nvPr>
        </p:nvSpPr>
        <p:spPr/>
        <p:txBody>
          <a:bodyPr/>
          <a:lstStyle/>
          <a:p>
            <a:r>
              <a:rPr lang="fr-FR" sz="3200" dirty="0">
                <a:latin typeface="Nunito" pitchFamily="2" charset="77"/>
              </a:rPr>
              <a:t>4</a:t>
            </a:r>
            <a:r>
              <a:rPr lang="fr-FR" sz="3200" baseline="30000" dirty="0">
                <a:latin typeface="Nunito" pitchFamily="2" charset="77"/>
              </a:rPr>
              <a:t>ième</a:t>
            </a:r>
            <a:r>
              <a:rPr lang="fr-FR" sz="3200" dirty="0">
                <a:latin typeface="Nunito" pitchFamily="2" charset="77"/>
              </a:rPr>
              <a:t> étape : Définir les objectifs du projet 4/5</a:t>
            </a:r>
          </a:p>
        </p:txBody>
      </p:sp>
      <p:sp>
        <p:nvSpPr>
          <p:cNvPr id="3" name="Espace réservé du texte 2">
            <a:extLst>
              <a:ext uri="{FF2B5EF4-FFF2-40B4-BE49-F238E27FC236}">
                <a16:creationId xmlns:a16="http://schemas.microsoft.com/office/drawing/2014/main" id="{1B96DBCA-D266-80FB-26F7-3C308C78EDDB}"/>
              </a:ext>
            </a:extLst>
          </p:cNvPr>
          <p:cNvSpPr>
            <a:spLocks noGrp="1"/>
          </p:cNvSpPr>
          <p:nvPr>
            <p:ph type="body" idx="1"/>
          </p:nvPr>
        </p:nvSpPr>
        <p:spPr/>
        <p:txBody>
          <a:bodyPr/>
          <a:lstStyle/>
          <a:p>
            <a:r>
              <a:rPr lang="fr-FR" b="1" dirty="0"/>
              <a:t>Spécifique : </a:t>
            </a:r>
            <a:r>
              <a:rPr lang="fr-FR" dirty="0"/>
              <a:t>Eviter les objectifs de projet trop flous comme « accroître les ventes ». Privilégier un objectif plus concret comme « accroître les ventes de 15 % par rapport au dernier trimestre ». le résultat visé devient plus clair et vous pouvez, aux côtés de votre équipe, imaginer et exécuter une stratégie pour y arriver.</a:t>
            </a:r>
          </a:p>
          <a:p>
            <a:r>
              <a:rPr lang="fr-FR" b="1" dirty="0"/>
              <a:t>Mesurable : </a:t>
            </a:r>
            <a:r>
              <a:rPr lang="fr-FR" dirty="0"/>
              <a:t>Pour pouvoir évaluer précisément les progrès accomplis, vos objectifs de projet doivent être mesurables. Cela permettra de suivre les progrès tout au long du cycle de vie. Les objectifs doivent répondre aux questions suivantes : que dois-je concrètement viser (en chiffres) et comment est-ce que je saurai que j'ai atteint mon but ?</a:t>
            </a:r>
          </a:p>
          <a:p>
            <a:endParaRPr lang="fr-FR" b="1" dirty="0"/>
          </a:p>
        </p:txBody>
      </p:sp>
      <p:sp>
        <p:nvSpPr>
          <p:cNvPr id="4" name="Espace réservé du numéro de diapositive 3">
            <a:extLst>
              <a:ext uri="{FF2B5EF4-FFF2-40B4-BE49-F238E27FC236}">
                <a16:creationId xmlns:a16="http://schemas.microsoft.com/office/drawing/2014/main" id="{15FAF328-ADFD-81FA-2394-0F8E59150C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spTree>
    <p:extLst>
      <p:ext uri="{BB962C8B-B14F-4D97-AF65-F5344CB8AC3E}">
        <p14:creationId xmlns:p14="http://schemas.microsoft.com/office/powerpoint/2010/main" val="2671493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39F1-541D-B717-A2A3-FAEAC526759E}"/>
              </a:ext>
            </a:extLst>
          </p:cNvPr>
          <p:cNvSpPr>
            <a:spLocks noGrp="1"/>
          </p:cNvSpPr>
          <p:nvPr>
            <p:ph type="title"/>
          </p:nvPr>
        </p:nvSpPr>
        <p:spPr/>
        <p:txBody>
          <a:bodyPr/>
          <a:lstStyle/>
          <a:p>
            <a:r>
              <a:rPr lang="fr-FR" sz="3200" dirty="0">
                <a:latin typeface="Nunito" pitchFamily="2" charset="77"/>
              </a:rPr>
              <a:t>4</a:t>
            </a:r>
            <a:r>
              <a:rPr lang="fr-FR" sz="3200" baseline="30000" dirty="0">
                <a:latin typeface="Nunito" pitchFamily="2" charset="77"/>
              </a:rPr>
              <a:t>ième</a:t>
            </a:r>
            <a:r>
              <a:rPr lang="fr-FR" sz="3200" dirty="0">
                <a:latin typeface="Nunito" pitchFamily="2" charset="77"/>
              </a:rPr>
              <a:t> étape : Définir les objectifs du projet 5/5</a:t>
            </a:r>
          </a:p>
        </p:txBody>
      </p:sp>
      <p:sp>
        <p:nvSpPr>
          <p:cNvPr id="3" name="Espace réservé du texte 2">
            <a:extLst>
              <a:ext uri="{FF2B5EF4-FFF2-40B4-BE49-F238E27FC236}">
                <a16:creationId xmlns:a16="http://schemas.microsoft.com/office/drawing/2014/main" id="{1B96DBCA-D266-80FB-26F7-3C308C78EDDB}"/>
              </a:ext>
            </a:extLst>
          </p:cNvPr>
          <p:cNvSpPr>
            <a:spLocks noGrp="1"/>
          </p:cNvSpPr>
          <p:nvPr>
            <p:ph type="body" idx="1"/>
          </p:nvPr>
        </p:nvSpPr>
        <p:spPr/>
        <p:txBody>
          <a:bodyPr/>
          <a:lstStyle/>
          <a:p>
            <a:r>
              <a:rPr lang="fr-FR" b="1" dirty="0"/>
              <a:t>Acceptable : </a:t>
            </a:r>
            <a:r>
              <a:rPr lang="fr-FR" dirty="0"/>
              <a:t>Mettre en place des objectifs acceptables en fonction des ressources à votre disposition et des contraintes identifiées. Fixer des objectifs acceptables (mais toujours ambitieux), permettra d’identifier des opportunités.</a:t>
            </a:r>
          </a:p>
          <a:p>
            <a:r>
              <a:rPr lang="fr-FR" b="1" dirty="0"/>
              <a:t>Réaliste :</a:t>
            </a:r>
            <a:r>
              <a:rPr lang="fr-FR" dirty="0"/>
              <a:t> Différent du critère « Acceptable ». C’est la pertinence des objectifs, leur alignement sur les objectifs plus généraux de l'entreprise et leur valeur pour l'organisation ou le client.</a:t>
            </a:r>
          </a:p>
          <a:p>
            <a:r>
              <a:rPr lang="fr-FR" b="1" dirty="0"/>
              <a:t>Temporellement défini : </a:t>
            </a:r>
            <a:r>
              <a:rPr lang="fr-FR" dirty="0"/>
              <a:t>Il faut une échéance définie dans le temps pour la réalisation de l’objectif.</a:t>
            </a:r>
          </a:p>
        </p:txBody>
      </p:sp>
      <p:sp>
        <p:nvSpPr>
          <p:cNvPr id="4" name="Espace réservé du numéro de diapositive 3">
            <a:extLst>
              <a:ext uri="{FF2B5EF4-FFF2-40B4-BE49-F238E27FC236}">
                <a16:creationId xmlns:a16="http://schemas.microsoft.com/office/drawing/2014/main" id="{15FAF328-ADFD-81FA-2394-0F8E59150C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spTree>
    <p:extLst>
      <p:ext uri="{BB962C8B-B14F-4D97-AF65-F5344CB8AC3E}">
        <p14:creationId xmlns:p14="http://schemas.microsoft.com/office/powerpoint/2010/main" val="2079146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22074E-AE3C-403D-8E68-BC65FD1E3742}"/>
              </a:ext>
            </a:extLst>
          </p:cNvPr>
          <p:cNvSpPr>
            <a:spLocks noGrp="1"/>
          </p:cNvSpPr>
          <p:nvPr>
            <p:ph type="title"/>
          </p:nvPr>
        </p:nvSpPr>
        <p:spPr/>
        <p:txBody>
          <a:bodyPr/>
          <a:lstStyle/>
          <a:p>
            <a:r>
              <a:rPr lang="fr-FR" sz="3200" dirty="0">
                <a:latin typeface="Nunito" pitchFamily="2" charset="77"/>
              </a:rPr>
              <a:t>5</a:t>
            </a:r>
            <a:r>
              <a:rPr lang="fr-FR" sz="3200" baseline="30000" dirty="0">
                <a:latin typeface="Nunito" pitchFamily="2" charset="77"/>
              </a:rPr>
              <a:t>ième</a:t>
            </a:r>
            <a:r>
              <a:rPr lang="fr-FR" sz="3200" dirty="0">
                <a:latin typeface="Nunito" pitchFamily="2" charset="77"/>
              </a:rPr>
              <a:t> étape : La Cible </a:t>
            </a:r>
          </a:p>
        </p:txBody>
      </p:sp>
      <p:sp>
        <p:nvSpPr>
          <p:cNvPr id="3" name="Espace réservé du texte 2">
            <a:extLst>
              <a:ext uri="{FF2B5EF4-FFF2-40B4-BE49-F238E27FC236}">
                <a16:creationId xmlns:a16="http://schemas.microsoft.com/office/drawing/2014/main" id="{781FB1C0-9B7C-4A20-BD47-104B688BB958}"/>
              </a:ext>
            </a:extLst>
          </p:cNvPr>
          <p:cNvSpPr>
            <a:spLocks noGrp="1"/>
          </p:cNvSpPr>
          <p:nvPr>
            <p:ph type="body" idx="1"/>
          </p:nvPr>
        </p:nvSpPr>
        <p:spPr/>
        <p:txBody>
          <a:bodyPr/>
          <a:lstStyle/>
          <a:p>
            <a:r>
              <a:rPr lang="fr-FR" dirty="0"/>
              <a:t>Présenter la cible de votre projet, certaines méthodes comme celle des </a:t>
            </a:r>
            <a:r>
              <a:rPr lang="fr-FR" dirty="0" err="1"/>
              <a:t>personas</a:t>
            </a:r>
            <a:r>
              <a:rPr lang="fr-FR" dirty="0"/>
              <a:t> permettent de créer des profils clients types et de </a:t>
            </a:r>
            <a:r>
              <a:rPr lang="fr-FR" b="1" dirty="0"/>
              <a:t>mieux définir sa cible client</a:t>
            </a:r>
            <a:r>
              <a:rPr lang="fr-FR" dirty="0"/>
              <a:t>.</a:t>
            </a:r>
          </a:p>
          <a:p>
            <a:r>
              <a:rPr lang="fr-FR" dirty="0"/>
              <a:t>Il peut y avoir plusieurs types de cibles en fonction des projets: </a:t>
            </a:r>
          </a:p>
          <a:p>
            <a:pPr>
              <a:buAutoNum type="arabicPeriod"/>
            </a:pPr>
            <a:r>
              <a:rPr lang="fr-FR" dirty="0"/>
              <a:t>Une cible globale </a:t>
            </a:r>
          </a:p>
          <a:p>
            <a:pPr>
              <a:buAutoNum type="arabicPeriod"/>
            </a:pPr>
            <a:r>
              <a:rPr lang="fr-FR" dirty="0"/>
              <a:t>Un cœur de cible </a:t>
            </a:r>
          </a:p>
          <a:p>
            <a:pPr>
              <a:buAutoNum type="arabicPeriod"/>
            </a:pPr>
            <a:endParaRPr lang="fr-FR" dirty="0"/>
          </a:p>
          <a:p>
            <a:pPr marL="114300" indent="0">
              <a:buNone/>
            </a:pPr>
            <a:r>
              <a:rPr lang="fr-FR" dirty="0"/>
              <a:t>Entre 2 et 3 </a:t>
            </a:r>
            <a:r>
              <a:rPr lang="fr-FR" dirty="0" err="1"/>
              <a:t>personas</a:t>
            </a:r>
            <a:r>
              <a:rPr lang="fr-FR" dirty="0"/>
              <a:t> pour présenter la cible c’est parfait. </a:t>
            </a:r>
          </a:p>
          <a:p>
            <a:pPr>
              <a:buAutoNum type="arabicPeriod"/>
            </a:pPr>
            <a:endParaRPr lang="fr-FR" dirty="0"/>
          </a:p>
          <a:p>
            <a:pPr marL="114300" indent="0">
              <a:buNone/>
            </a:pPr>
            <a:endParaRPr lang="fr-FR" dirty="0"/>
          </a:p>
        </p:txBody>
      </p:sp>
      <p:sp>
        <p:nvSpPr>
          <p:cNvPr id="4" name="Espace réservé du numéro de diapositive 3">
            <a:extLst>
              <a:ext uri="{FF2B5EF4-FFF2-40B4-BE49-F238E27FC236}">
                <a16:creationId xmlns:a16="http://schemas.microsoft.com/office/drawing/2014/main" id="{3D9D6C1D-A9E1-4E25-8F3D-BEEF99DF76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spTree>
    <p:extLst>
      <p:ext uri="{BB962C8B-B14F-4D97-AF65-F5344CB8AC3E}">
        <p14:creationId xmlns:p14="http://schemas.microsoft.com/office/powerpoint/2010/main" val="1451727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006C7-2CDC-3442-72BE-4ABDD3F4439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A6638AB-B4ED-F9B0-D076-06EB7BE1DFF1}"/>
              </a:ext>
            </a:extLst>
          </p:cNvPr>
          <p:cNvSpPr>
            <a:spLocks noGrp="1"/>
          </p:cNvSpPr>
          <p:nvPr>
            <p:ph type="title"/>
          </p:nvPr>
        </p:nvSpPr>
        <p:spPr>
          <a:xfrm>
            <a:off x="137529" y="148625"/>
            <a:ext cx="8520600" cy="831300"/>
          </a:xfrm>
        </p:spPr>
        <p:txBody>
          <a:bodyPr/>
          <a:lstStyle/>
          <a:p>
            <a:r>
              <a:rPr lang="fr-FR" sz="3600" dirty="0">
                <a:latin typeface="Nunito" pitchFamily="2" charset="77"/>
              </a:rPr>
              <a:t>Qu’est ce qu’un persona ? </a:t>
            </a:r>
          </a:p>
        </p:txBody>
      </p:sp>
      <p:sp>
        <p:nvSpPr>
          <p:cNvPr id="3" name="Espace réservé du texte 2">
            <a:extLst>
              <a:ext uri="{FF2B5EF4-FFF2-40B4-BE49-F238E27FC236}">
                <a16:creationId xmlns:a16="http://schemas.microsoft.com/office/drawing/2014/main" id="{60CE4977-FF6B-1456-A493-C3AF336E27B7}"/>
              </a:ext>
            </a:extLst>
          </p:cNvPr>
          <p:cNvSpPr>
            <a:spLocks noGrp="1"/>
          </p:cNvSpPr>
          <p:nvPr>
            <p:ph type="body" idx="1"/>
          </p:nvPr>
        </p:nvSpPr>
        <p:spPr>
          <a:xfrm>
            <a:off x="226208" y="1051054"/>
            <a:ext cx="8520600" cy="3354000"/>
          </a:xfrm>
        </p:spPr>
        <p:txBody>
          <a:bodyPr/>
          <a:lstStyle/>
          <a:p>
            <a:r>
              <a:rPr lang="fr-FR" sz="1600" dirty="0">
                <a:latin typeface="Nunito" pitchFamily="2" charset="77"/>
              </a:rPr>
              <a:t>Un persona, c’est une représentation fictive des cibles, prospects et clients. Ce ne sont pas des prospects ou clients réels. Le persona n’existe pas.</a:t>
            </a:r>
          </a:p>
          <a:p>
            <a:pPr marL="114300" indent="0">
              <a:buNone/>
            </a:pPr>
            <a:endParaRPr lang="fr-FR" sz="1600" dirty="0">
              <a:latin typeface="Nunito" pitchFamily="2" charset="77"/>
            </a:endParaRPr>
          </a:p>
          <a:p>
            <a:r>
              <a:rPr lang="fr-FR" sz="1600" dirty="0">
                <a:latin typeface="Nunito" pitchFamily="2" charset="77"/>
              </a:rPr>
              <a:t>Le persona n’a pas pour vocation d’être réel ; il est là pour permettre de créer des sortes d’archétypes de clients ou acheteurs potentiels afin de mieux les comprendre, pour mieux les atteindre et les satisfaire.</a:t>
            </a:r>
          </a:p>
          <a:p>
            <a:pPr marL="114300" indent="0">
              <a:buNone/>
            </a:pPr>
            <a:endParaRPr lang="fr-FR" sz="1600" dirty="0">
              <a:latin typeface="Nunito" pitchFamily="2" charset="77"/>
            </a:endParaRPr>
          </a:p>
          <a:p>
            <a:r>
              <a:rPr lang="fr-FR" sz="1600" dirty="0">
                <a:latin typeface="Nunito" pitchFamily="2" charset="77"/>
              </a:rPr>
              <a:t>Les </a:t>
            </a:r>
            <a:r>
              <a:rPr lang="fr-FR" sz="1600" dirty="0" err="1">
                <a:latin typeface="Nunito" pitchFamily="2" charset="77"/>
              </a:rPr>
              <a:t>personas</a:t>
            </a:r>
            <a:r>
              <a:rPr lang="fr-FR" sz="1600" dirty="0">
                <a:latin typeface="Nunito" pitchFamily="2" charset="77"/>
              </a:rPr>
              <a:t> sont créés pour une durée limitée, pour un projet en particulier : il peut s’agir du lancement d’un nouveau produit, d’une nouvelle campagne de publicité, etc.</a:t>
            </a:r>
          </a:p>
          <a:p>
            <a:endParaRPr lang="fr-FR" dirty="0"/>
          </a:p>
        </p:txBody>
      </p:sp>
      <p:sp>
        <p:nvSpPr>
          <p:cNvPr id="4" name="Espace réservé du numéro de diapositive 3">
            <a:extLst>
              <a:ext uri="{FF2B5EF4-FFF2-40B4-BE49-F238E27FC236}">
                <a16:creationId xmlns:a16="http://schemas.microsoft.com/office/drawing/2014/main" id="{F7D1EB46-289B-266C-844A-8598AF3761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dirty="0"/>
          </a:p>
        </p:txBody>
      </p:sp>
    </p:spTree>
    <p:extLst>
      <p:ext uri="{BB962C8B-B14F-4D97-AF65-F5344CB8AC3E}">
        <p14:creationId xmlns:p14="http://schemas.microsoft.com/office/powerpoint/2010/main" val="28957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8B437-D1AA-B7F5-8B6D-94E4A00DD53D}"/>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04C51928-CB08-F494-5804-82FC6A9E48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pic>
        <p:nvPicPr>
          <p:cNvPr id="6" name="Image 5">
            <a:extLst>
              <a:ext uri="{FF2B5EF4-FFF2-40B4-BE49-F238E27FC236}">
                <a16:creationId xmlns:a16="http://schemas.microsoft.com/office/drawing/2014/main" id="{6F04D4CD-91FF-00D3-74CD-A9FCECD6BD8C}"/>
              </a:ext>
            </a:extLst>
          </p:cNvPr>
          <p:cNvPicPr>
            <a:picLocks noChangeAspect="1"/>
          </p:cNvPicPr>
          <p:nvPr/>
        </p:nvPicPr>
        <p:blipFill rotWithShape="1">
          <a:blip r:embed="rId2"/>
          <a:srcRect l="2016" t="3876" r="1516" b="2957"/>
          <a:stretch/>
        </p:blipFill>
        <p:spPr>
          <a:xfrm>
            <a:off x="0" y="0"/>
            <a:ext cx="4817170" cy="2894455"/>
          </a:xfrm>
          <a:prstGeom prst="rect">
            <a:avLst/>
          </a:prstGeom>
        </p:spPr>
      </p:pic>
      <p:pic>
        <p:nvPicPr>
          <p:cNvPr id="8" name="Image 7">
            <a:extLst>
              <a:ext uri="{FF2B5EF4-FFF2-40B4-BE49-F238E27FC236}">
                <a16:creationId xmlns:a16="http://schemas.microsoft.com/office/drawing/2014/main" id="{D9016D61-5C5D-36D3-AA59-5D88C288AABD}"/>
              </a:ext>
            </a:extLst>
          </p:cNvPr>
          <p:cNvPicPr>
            <a:picLocks noChangeAspect="1"/>
          </p:cNvPicPr>
          <p:nvPr/>
        </p:nvPicPr>
        <p:blipFill rotWithShape="1">
          <a:blip r:embed="rId3"/>
          <a:srcRect l="4477" t="3692" r="3367" b="5539"/>
          <a:stretch/>
        </p:blipFill>
        <p:spPr>
          <a:xfrm>
            <a:off x="3940394" y="2394990"/>
            <a:ext cx="5080764" cy="2748510"/>
          </a:xfrm>
          <a:prstGeom prst="rect">
            <a:avLst/>
          </a:prstGeom>
        </p:spPr>
      </p:pic>
    </p:spTree>
    <p:extLst>
      <p:ext uri="{BB962C8B-B14F-4D97-AF65-F5344CB8AC3E}">
        <p14:creationId xmlns:p14="http://schemas.microsoft.com/office/powerpoint/2010/main" val="663124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bb940216cc_0_18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6</a:t>
            </a:r>
            <a:r>
              <a:rPr lang="fr-FR" sz="3200" baseline="30000" dirty="0">
                <a:latin typeface="Nunito" pitchFamily="2" charset="77"/>
              </a:rPr>
              <a:t>ième</a:t>
            </a:r>
            <a:r>
              <a:rPr lang="fr-FR" sz="3200" dirty="0">
                <a:latin typeface="Nunito" pitchFamily="2" charset="77"/>
              </a:rPr>
              <a:t> étape : Périmètre du produit</a:t>
            </a:r>
            <a:endParaRPr sz="3200" dirty="0">
              <a:latin typeface="Nunito" pitchFamily="2" charset="77"/>
            </a:endParaRPr>
          </a:p>
        </p:txBody>
      </p:sp>
      <p:sp>
        <p:nvSpPr>
          <p:cNvPr id="131" name="Google Shape;131;gbb940216cc_0_183"/>
          <p:cNvSpPr txBox="1">
            <a:spLocks noGrp="1"/>
          </p:cNvSpPr>
          <p:nvPr>
            <p:ph type="body" idx="1"/>
          </p:nvPr>
        </p:nvSpPr>
        <p:spPr>
          <a:xfrm>
            <a:off x="372212" y="1147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L’ensemble des fonctionnalités présentes dans votre V1 (les lister une à une)</a:t>
            </a:r>
          </a:p>
          <a:p>
            <a:r>
              <a:rPr lang="fr-FR" dirty="0"/>
              <a:t>Possible de voir plus loin, et de présenter les fonctionnalités à prendre en compte lors d’une V2</a:t>
            </a:r>
            <a:endParaRPr dirty="0"/>
          </a:p>
          <a:p>
            <a:pPr marL="457200" lvl="0" indent="-342900" algn="l" rtl="0">
              <a:lnSpc>
                <a:spcPct val="115000"/>
              </a:lnSpc>
              <a:spcBef>
                <a:spcPts val="0"/>
              </a:spcBef>
              <a:spcAft>
                <a:spcPts val="0"/>
              </a:spcAft>
              <a:buSzPts val="1800"/>
              <a:buChar char="●"/>
            </a:pPr>
            <a:r>
              <a:rPr lang="fr-FR" dirty="0"/>
              <a:t>Ne pas oublier de mentionner les rôles de votre application ou site web si vous en avez =&gt; Exemple : Espace professionnel, Espace particulier </a:t>
            </a:r>
            <a:endParaRPr dirty="0"/>
          </a:p>
        </p:txBody>
      </p:sp>
      <p:sp>
        <p:nvSpPr>
          <p:cNvPr id="132" name="Google Shape;132;gbb940216cc_0_18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17</a:t>
            </a:fld>
            <a:endParaRPr/>
          </a:p>
        </p:txBody>
      </p:sp>
    </p:spTree>
    <p:extLst>
      <p:ext uri="{BB962C8B-B14F-4D97-AF65-F5344CB8AC3E}">
        <p14:creationId xmlns:p14="http://schemas.microsoft.com/office/powerpoint/2010/main" val="2086780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bbbcc83159_0_2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7</a:t>
            </a:r>
            <a:r>
              <a:rPr lang="fr-FR" sz="3200" baseline="30000" dirty="0">
                <a:latin typeface="Nunito" pitchFamily="2" charset="77"/>
              </a:rPr>
              <a:t>ième</a:t>
            </a:r>
            <a:r>
              <a:rPr lang="fr-FR" sz="3200" dirty="0">
                <a:latin typeface="Nunito" pitchFamily="2" charset="77"/>
              </a:rPr>
              <a:t> étape : Les livrables </a:t>
            </a:r>
            <a:endParaRPr sz="3200" dirty="0">
              <a:latin typeface="Nunito" pitchFamily="2" charset="77"/>
            </a:endParaRPr>
          </a:p>
        </p:txBody>
      </p:sp>
      <p:sp>
        <p:nvSpPr>
          <p:cNvPr id="110" name="Google Shape;110;gbbbcc83159_0_21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Lister les éléments que vous livrerez tout au long du projet:</a:t>
            </a:r>
            <a:endParaRPr dirty="0"/>
          </a:p>
          <a:p>
            <a:pPr marL="914400" lvl="1" indent="-317500" algn="l" rtl="0">
              <a:lnSpc>
                <a:spcPct val="115000"/>
              </a:lnSpc>
              <a:spcBef>
                <a:spcPts val="0"/>
              </a:spcBef>
              <a:spcAft>
                <a:spcPts val="0"/>
              </a:spcAft>
              <a:buSzPts val="1400"/>
              <a:buChar char="○"/>
            </a:pPr>
            <a:r>
              <a:rPr lang="fr-FR" dirty="0"/>
              <a:t>Maquettes (Sketch ou maquettes interactives)</a:t>
            </a:r>
          </a:p>
          <a:p>
            <a:pPr marL="914400" lvl="1" indent="-317500" algn="l" rtl="0">
              <a:lnSpc>
                <a:spcPct val="115000"/>
              </a:lnSpc>
              <a:spcBef>
                <a:spcPts val="0"/>
              </a:spcBef>
              <a:spcAft>
                <a:spcPts val="0"/>
              </a:spcAft>
              <a:buSzPts val="1400"/>
              <a:buChar char="○"/>
            </a:pPr>
            <a:r>
              <a:rPr lang="fr-FR" dirty="0"/>
              <a:t>Wireframes </a:t>
            </a:r>
          </a:p>
          <a:p>
            <a:pPr marL="914400" lvl="1" indent="-317500" algn="l" rtl="0">
              <a:lnSpc>
                <a:spcPct val="115000"/>
              </a:lnSpc>
              <a:spcBef>
                <a:spcPts val="0"/>
              </a:spcBef>
              <a:spcAft>
                <a:spcPts val="0"/>
              </a:spcAft>
              <a:buSzPts val="1400"/>
              <a:buChar char="○"/>
            </a:pPr>
            <a:r>
              <a:rPr lang="fr-FR" dirty="0"/>
              <a:t>Benchmark </a:t>
            </a:r>
            <a:endParaRPr dirty="0"/>
          </a:p>
          <a:p>
            <a:pPr marL="914400" lvl="1" indent="-317500" algn="l" rtl="0">
              <a:lnSpc>
                <a:spcPct val="115000"/>
              </a:lnSpc>
              <a:spcBef>
                <a:spcPts val="0"/>
              </a:spcBef>
              <a:spcAft>
                <a:spcPts val="0"/>
              </a:spcAft>
              <a:buSzPts val="1400"/>
              <a:buChar char="○"/>
            </a:pPr>
            <a:r>
              <a:rPr lang="fr-FR" dirty="0"/>
              <a:t>Documentation technique </a:t>
            </a:r>
          </a:p>
          <a:p>
            <a:pPr marL="914400" lvl="1" indent="-317500" algn="l" rtl="0">
              <a:lnSpc>
                <a:spcPct val="115000"/>
              </a:lnSpc>
              <a:spcBef>
                <a:spcPts val="0"/>
              </a:spcBef>
              <a:spcAft>
                <a:spcPts val="0"/>
              </a:spcAft>
              <a:buSzPts val="1400"/>
              <a:buChar char="○"/>
            </a:pPr>
            <a:r>
              <a:rPr lang="fr-FR" dirty="0"/>
              <a:t>Documentation fonctionnelle (spécifications) </a:t>
            </a:r>
          </a:p>
          <a:p>
            <a:pPr marL="914400" lvl="1" indent="-317500" algn="l" rtl="0">
              <a:lnSpc>
                <a:spcPct val="115000"/>
              </a:lnSpc>
              <a:spcBef>
                <a:spcPts val="0"/>
              </a:spcBef>
              <a:spcAft>
                <a:spcPts val="0"/>
              </a:spcAft>
              <a:buSzPts val="1400"/>
              <a:buChar char="○"/>
            </a:pPr>
            <a:r>
              <a:rPr lang="fr-FR" dirty="0"/>
              <a:t>Site ou app développée dans la techno demandée etc… </a:t>
            </a:r>
            <a:endParaRPr dirty="0"/>
          </a:p>
          <a:p>
            <a:pPr marL="457200" lvl="0" indent="0" algn="l" rtl="0">
              <a:lnSpc>
                <a:spcPct val="115000"/>
              </a:lnSpc>
              <a:spcBef>
                <a:spcPts val="0"/>
              </a:spcBef>
              <a:spcAft>
                <a:spcPts val="0"/>
              </a:spcAft>
              <a:buNone/>
            </a:pPr>
            <a:endParaRPr dirty="0"/>
          </a:p>
        </p:txBody>
      </p:sp>
      <p:sp>
        <p:nvSpPr>
          <p:cNvPr id="111" name="Google Shape;111;gbbbcc83159_0_2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c04a61d559_0_5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8</a:t>
            </a:r>
            <a:r>
              <a:rPr lang="fr-FR" sz="3200" baseline="30000" dirty="0">
                <a:latin typeface="Nunito" pitchFamily="2" charset="77"/>
              </a:rPr>
              <a:t>ième</a:t>
            </a:r>
            <a:r>
              <a:rPr lang="fr-FR" sz="3200" dirty="0">
                <a:latin typeface="Nunito" pitchFamily="2" charset="77"/>
              </a:rPr>
              <a:t> étape : Spécifications techniques</a:t>
            </a:r>
            <a:endParaRPr sz="3200" dirty="0">
              <a:latin typeface="Nunito" pitchFamily="2" charset="77"/>
            </a:endParaRPr>
          </a:p>
        </p:txBody>
      </p:sp>
      <p:sp>
        <p:nvSpPr>
          <p:cNvPr id="96" name="Google Shape;96;gc04a61d559_0_5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Dans cette partie, il s’agit de spécifier tous les points techniques de façon à ce que le CDC couvre les questions, doutes et points de blocage techniques</a:t>
            </a:r>
            <a:endParaRPr dirty="0"/>
          </a:p>
          <a:p>
            <a:pPr marL="914400" lvl="0" indent="0" algn="l" rtl="0">
              <a:spcBef>
                <a:spcPts val="0"/>
              </a:spcBef>
              <a:spcAft>
                <a:spcPts val="0"/>
              </a:spcAft>
              <a:buNone/>
            </a:pPr>
            <a:endParaRPr dirty="0"/>
          </a:p>
          <a:p>
            <a:pPr marL="4572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fr-FR" dirty="0"/>
              <a:t> </a:t>
            </a:r>
            <a:endParaRPr dirty="0"/>
          </a:p>
          <a:p>
            <a:pPr marL="9144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97" name="Google Shape;97;gc04a61d559_0_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fr-FR"/>
              <a:t>19</a:t>
            </a:fld>
            <a:endParaRPr/>
          </a:p>
        </p:txBody>
      </p:sp>
    </p:spTree>
    <p:extLst>
      <p:ext uri="{BB962C8B-B14F-4D97-AF65-F5344CB8AC3E}">
        <p14:creationId xmlns:p14="http://schemas.microsoft.com/office/powerpoint/2010/main" val="2457487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c04a61d559_0_16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Points techniques importants -1</a:t>
            </a:r>
            <a:endParaRPr sz="3200" dirty="0">
              <a:latin typeface="Nunito" pitchFamily="2" charset="77"/>
            </a:endParaRPr>
          </a:p>
        </p:txBody>
      </p:sp>
      <p:sp>
        <p:nvSpPr>
          <p:cNvPr id="103" name="Google Shape;103;gc04a61d559_0_16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Lister le nom ou les noms de domaine à utiliser et la ou les extensions choisies   </a:t>
            </a:r>
          </a:p>
          <a:p>
            <a:pPr marL="457200" lvl="0" indent="-342900" algn="l" rtl="0">
              <a:lnSpc>
                <a:spcPct val="115000"/>
              </a:lnSpc>
              <a:spcBef>
                <a:spcPts val="0"/>
              </a:spcBef>
              <a:spcAft>
                <a:spcPts val="0"/>
              </a:spcAft>
              <a:buSzPts val="1800"/>
              <a:buChar char="●"/>
            </a:pPr>
            <a:r>
              <a:rPr lang="fr-FR" dirty="0"/>
              <a:t>Expliquer où sera hébergée la solution et pourquoi vous avez fait ce choix (+ types hébergement = si dédié/mutualisé ou autre) </a:t>
            </a:r>
            <a:endParaRPr dirty="0"/>
          </a:p>
          <a:p>
            <a:pPr marL="457200" lvl="0" indent="-342900" algn="l" rtl="0">
              <a:lnSpc>
                <a:spcPct val="115000"/>
              </a:lnSpc>
              <a:spcBef>
                <a:spcPts val="0"/>
              </a:spcBef>
              <a:spcAft>
                <a:spcPts val="0"/>
              </a:spcAft>
              <a:buSzPts val="1800"/>
              <a:buChar char="●"/>
            </a:pPr>
            <a:r>
              <a:rPr lang="fr-FR" dirty="0"/>
              <a:t>Exemple d’hébergeurs: </a:t>
            </a:r>
            <a:endParaRPr dirty="0"/>
          </a:p>
          <a:p>
            <a:pPr marL="914400" lvl="1" indent="-317500" algn="l" rtl="0">
              <a:lnSpc>
                <a:spcPct val="115000"/>
              </a:lnSpc>
              <a:spcBef>
                <a:spcPts val="0"/>
              </a:spcBef>
              <a:spcAft>
                <a:spcPts val="0"/>
              </a:spcAft>
              <a:buSzPts val="1400"/>
              <a:buChar char="○"/>
            </a:pPr>
            <a:r>
              <a:rPr lang="fr-FR" dirty="0"/>
              <a:t>OVH</a:t>
            </a:r>
            <a:endParaRPr dirty="0"/>
          </a:p>
          <a:p>
            <a:pPr marL="914400" lvl="1" indent="-317500" algn="l" rtl="0">
              <a:lnSpc>
                <a:spcPct val="115000"/>
              </a:lnSpc>
              <a:spcBef>
                <a:spcPts val="0"/>
              </a:spcBef>
              <a:spcAft>
                <a:spcPts val="0"/>
              </a:spcAft>
              <a:buSzPts val="1400"/>
              <a:buChar char="○"/>
            </a:pPr>
            <a:r>
              <a:rPr lang="fr-FR" dirty="0"/>
              <a:t>Amazon</a:t>
            </a:r>
            <a:endParaRPr dirty="0"/>
          </a:p>
          <a:p>
            <a:pPr marL="914400" lvl="1" indent="-317500" algn="l" rtl="0">
              <a:lnSpc>
                <a:spcPct val="115000"/>
              </a:lnSpc>
              <a:spcBef>
                <a:spcPts val="0"/>
              </a:spcBef>
              <a:spcAft>
                <a:spcPts val="0"/>
              </a:spcAft>
              <a:buSzPts val="1400"/>
              <a:buChar char="○"/>
            </a:pPr>
            <a:r>
              <a:rPr lang="fr-FR" dirty="0"/>
              <a:t>Google </a:t>
            </a:r>
            <a:endParaRPr dirty="0"/>
          </a:p>
          <a:p>
            <a:pPr marL="914400" lvl="1" indent="-317500" algn="l" rtl="0">
              <a:lnSpc>
                <a:spcPct val="115000"/>
              </a:lnSpc>
              <a:spcBef>
                <a:spcPts val="0"/>
              </a:spcBef>
              <a:spcAft>
                <a:spcPts val="0"/>
              </a:spcAft>
              <a:buSzPts val="1400"/>
              <a:buChar char="○"/>
            </a:pPr>
            <a:r>
              <a:rPr lang="fr-FR" dirty="0"/>
              <a:t>Ionos (anciennement 1&amp;1) </a:t>
            </a:r>
            <a:endParaRPr dirty="0"/>
          </a:p>
          <a:p>
            <a:pPr marL="914400" lvl="1" indent="-317500" algn="l" rtl="0">
              <a:lnSpc>
                <a:spcPct val="115000"/>
              </a:lnSpc>
              <a:spcBef>
                <a:spcPts val="0"/>
              </a:spcBef>
              <a:spcAft>
                <a:spcPts val="0"/>
              </a:spcAft>
              <a:buSzPts val="1400"/>
              <a:buChar char="○"/>
            </a:pPr>
            <a:r>
              <a:rPr lang="fr-FR" dirty="0"/>
              <a:t>Free (gratuit pour les clients free)  </a:t>
            </a:r>
            <a:endParaRPr dirty="0"/>
          </a:p>
          <a:p>
            <a:pPr marL="4572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914400" lvl="0" indent="0" algn="l" rtl="0">
              <a:spcBef>
                <a:spcPts val="0"/>
              </a:spcBef>
              <a:spcAft>
                <a:spcPts val="0"/>
              </a:spcAft>
              <a:buNone/>
            </a:pPr>
            <a:endParaRPr dirty="0"/>
          </a:p>
          <a:p>
            <a:pPr marL="4572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fr-FR" dirty="0"/>
              <a:t> </a:t>
            </a:r>
            <a:endParaRPr dirty="0"/>
          </a:p>
          <a:p>
            <a:pPr marL="9144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104" name="Google Shape;104;gc04a61d559_0_1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20</a:t>
            </a:fld>
            <a:endParaRPr/>
          </a:p>
        </p:txBody>
      </p:sp>
      <p:sp>
        <p:nvSpPr>
          <p:cNvPr id="2" name="Rectangle : coins arrondis 1">
            <a:extLst>
              <a:ext uri="{FF2B5EF4-FFF2-40B4-BE49-F238E27FC236}">
                <a16:creationId xmlns:a16="http://schemas.microsoft.com/office/drawing/2014/main" id="{F80E1223-2286-0057-B4C0-30657D4AE3D3}"/>
              </a:ext>
            </a:extLst>
          </p:cNvPr>
          <p:cNvSpPr/>
          <p:nvPr/>
        </p:nvSpPr>
        <p:spPr>
          <a:xfrm>
            <a:off x="6078071" y="3496235"/>
            <a:ext cx="2572870" cy="1166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Si vous voyiez d’autres choses techniques à ajouter allez-y. </a:t>
            </a:r>
          </a:p>
        </p:txBody>
      </p:sp>
    </p:spTree>
    <p:extLst>
      <p:ext uri="{BB962C8B-B14F-4D97-AF65-F5344CB8AC3E}">
        <p14:creationId xmlns:p14="http://schemas.microsoft.com/office/powerpoint/2010/main" val="684053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c04a61d559_0_154"/>
          <p:cNvSpPr txBox="1">
            <a:spLocks noGrp="1"/>
          </p:cNvSpPr>
          <p:nvPr>
            <p:ph type="title"/>
          </p:nvPr>
        </p:nvSpPr>
        <p:spPr>
          <a:xfrm>
            <a:off x="311700" y="133184"/>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dirty="0"/>
              <a:t>Points techniques importants -2  </a:t>
            </a:r>
            <a:endParaRPr dirty="0"/>
          </a:p>
        </p:txBody>
      </p:sp>
      <p:sp>
        <p:nvSpPr>
          <p:cNvPr id="110" name="Google Shape;110;gc04a61d559_0_154"/>
          <p:cNvSpPr txBox="1">
            <a:spLocks noGrp="1"/>
          </p:cNvSpPr>
          <p:nvPr>
            <p:ph type="body" idx="1"/>
          </p:nvPr>
        </p:nvSpPr>
        <p:spPr>
          <a:xfrm>
            <a:off x="311700" y="831617"/>
            <a:ext cx="8520600" cy="38316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Lister le ou les outils dont vous aurez besoin pour réaliser votre solution (et justifier) : </a:t>
            </a:r>
            <a:endParaRPr dirty="0"/>
          </a:p>
          <a:p>
            <a:pPr marL="914400" lvl="0" indent="0" algn="l" rtl="0">
              <a:lnSpc>
                <a:spcPct val="115000"/>
              </a:lnSpc>
              <a:spcBef>
                <a:spcPts val="0"/>
              </a:spcBef>
              <a:spcAft>
                <a:spcPts val="0"/>
              </a:spcAft>
              <a:buNone/>
            </a:pPr>
            <a:endParaRPr dirty="0">
              <a:solidFill>
                <a:srgbClr val="674EA7"/>
              </a:solidFill>
            </a:endParaRPr>
          </a:p>
          <a:p>
            <a:pPr marL="914400" lvl="0" indent="0" algn="l" rtl="0">
              <a:lnSpc>
                <a:spcPct val="115000"/>
              </a:lnSpc>
              <a:spcBef>
                <a:spcPts val="0"/>
              </a:spcBef>
              <a:spcAft>
                <a:spcPts val="0"/>
              </a:spcAft>
              <a:buNone/>
            </a:pPr>
            <a:endParaRPr dirty="0">
              <a:solidFill>
                <a:srgbClr val="674EA7"/>
              </a:solidFill>
            </a:endParaRPr>
          </a:p>
          <a:p>
            <a:pPr marL="914400" lvl="0" indent="0" algn="l" rtl="0">
              <a:lnSpc>
                <a:spcPct val="115000"/>
              </a:lnSpc>
              <a:spcBef>
                <a:spcPts val="0"/>
              </a:spcBef>
              <a:spcAft>
                <a:spcPts val="0"/>
              </a:spcAft>
              <a:buNone/>
            </a:pPr>
            <a:endParaRPr dirty="0">
              <a:solidFill>
                <a:srgbClr val="6AA84F"/>
              </a:solidFill>
            </a:endParaRPr>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914400" lvl="0" indent="0" algn="l" rtl="0">
              <a:spcBef>
                <a:spcPts val="0"/>
              </a:spcBef>
              <a:spcAft>
                <a:spcPts val="0"/>
              </a:spcAft>
              <a:buNone/>
            </a:pPr>
            <a:endParaRPr dirty="0"/>
          </a:p>
          <a:p>
            <a:pPr marL="4572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fr-FR" dirty="0"/>
              <a:t> </a:t>
            </a:r>
            <a:endParaRPr dirty="0"/>
          </a:p>
          <a:p>
            <a:pPr marL="9144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111" name="Google Shape;111;gc04a61d559_0_1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21</a:t>
            </a:fld>
            <a:endParaRPr/>
          </a:p>
        </p:txBody>
      </p:sp>
      <p:graphicFrame>
        <p:nvGraphicFramePr>
          <p:cNvPr id="112" name="Google Shape;112;gc04a61d559_0_154"/>
          <p:cNvGraphicFramePr/>
          <p:nvPr/>
        </p:nvGraphicFramePr>
        <p:xfrm>
          <a:off x="1470524" y="1520626"/>
          <a:ext cx="7001934" cy="3489690"/>
        </p:xfrm>
        <a:graphic>
          <a:graphicData uri="http://schemas.openxmlformats.org/drawingml/2006/table">
            <a:tbl>
              <a:tblPr>
                <a:noFill/>
              </a:tblPr>
              <a:tblGrid>
                <a:gridCol w="2333978">
                  <a:extLst>
                    <a:ext uri="{9D8B030D-6E8A-4147-A177-3AD203B41FA5}">
                      <a16:colId xmlns:a16="http://schemas.microsoft.com/office/drawing/2014/main" val="20000"/>
                    </a:ext>
                  </a:extLst>
                </a:gridCol>
                <a:gridCol w="2333978">
                  <a:extLst>
                    <a:ext uri="{9D8B030D-6E8A-4147-A177-3AD203B41FA5}">
                      <a16:colId xmlns:a16="http://schemas.microsoft.com/office/drawing/2014/main" val="20001"/>
                    </a:ext>
                  </a:extLst>
                </a:gridCol>
                <a:gridCol w="2333978">
                  <a:extLst>
                    <a:ext uri="{9D8B030D-6E8A-4147-A177-3AD203B41FA5}">
                      <a16:colId xmlns:a16="http://schemas.microsoft.com/office/drawing/2014/main" val="20002"/>
                    </a:ext>
                  </a:extLst>
                </a:gridCol>
              </a:tblGrid>
              <a:tr h="346204">
                <a:tc>
                  <a:txBody>
                    <a:bodyPr/>
                    <a:lstStyle/>
                    <a:p>
                      <a:pPr marL="0" lvl="0" indent="0" algn="l" rtl="0">
                        <a:spcBef>
                          <a:spcPts val="0"/>
                        </a:spcBef>
                        <a:spcAft>
                          <a:spcPts val="0"/>
                        </a:spcAft>
                        <a:buNone/>
                      </a:pPr>
                      <a:r>
                        <a:rPr lang="fr-FR" sz="1100" b="1" dirty="0"/>
                        <a:t>Technos</a:t>
                      </a:r>
                      <a:endParaRPr sz="1100" b="1" dirty="0"/>
                    </a:p>
                  </a:txBody>
                  <a:tcPr marL="91425" marR="91425" marT="91425" marB="91425"/>
                </a:tc>
                <a:tc>
                  <a:txBody>
                    <a:bodyPr/>
                    <a:lstStyle/>
                    <a:p>
                      <a:pPr marL="0" lvl="0" indent="0" algn="l" rtl="0">
                        <a:spcBef>
                          <a:spcPts val="0"/>
                        </a:spcBef>
                        <a:spcAft>
                          <a:spcPts val="0"/>
                        </a:spcAft>
                        <a:buNone/>
                      </a:pPr>
                      <a:r>
                        <a:rPr lang="fr-FR" sz="1100" b="1" dirty="0"/>
                        <a:t>CMS</a:t>
                      </a:r>
                      <a:endParaRPr sz="1100" b="1" dirty="0"/>
                    </a:p>
                  </a:txBody>
                  <a:tcPr marL="91425" marR="91425" marT="91425" marB="91425"/>
                </a:tc>
                <a:tc>
                  <a:txBody>
                    <a:bodyPr/>
                    <a:lstStyle/>
                    <a:p>
                      <a:pPr marL="0" lvl="0" indent="0" algn="l" rtl="0">
                        <a:spcBef>
                          <a:spcPts val="0"/>
                        </a:spcBef>
                        <a:spcAft>
                          <a:spcPts val="0"/>
                        </a:spcAft>
                        <a:buNone/>
                      </a:pPr>
                      <a:r>
                        <a:rPr lang="fr-FR" sz="1100" b="1" dirty="0"/>
                        <a:t>Services Tiers</a:t>
                      </a:r>
                      <a:endParaRPr sz="1100" b="1" dirty="0"/>
                    </a:p>
                  </a:txBody>
                  <a:tcPr marL="91425" marR="91425" marT="91425" marB="91425"/>
                </a:tc>
                <a:extLst>
                  <a:ext uri="{0D108BD9-81ED-4DB2-BD59-A6C34878D82A}">
                    <a16:rowId xmlns:a16="http://schemas.microsoft.com/office/drawing/2014/main" val="10000"/>
                  </a:ext>
                </a:extLst>
              </a:tr>
              <a:tr h="500213">
                <a:tc>
                  <a:txBody>
                    <a:bodyPr/>
                    <a:lstStyle/>
                    <a:p>
                      <a:pPr marL="0" lvl="0" indent="0" algn="l" rtl="0">
                        <a:spcBef>
                          <a:spcPts val="0"/>
                        </a:spcBef>
                        <a:spcAft>
                          <a:spcPts val="0"/>
                        </a:spcAft>
                        <a:buNone/>
                      </a:pPr>
                      <a:r>
                        <a:rPr lang="fr-FR" sz="1100" dirty="0" err="1"/>
                        <a:t>React</a:t>
                      </a:r>
                      <a:r>
                        <a:rPr lang="fr-FR" sz="1100" dirty="0"/>
                        <a:t> (site web) </a:t>
                      </a:r>
                      <a:endParaRPr sz="1100" dirty="0"/>
                    </a:p>
                  </a:txBody>
                  <a:tcPr marL="91425" marR="91425" marT="91425" marB="91425"/>
                </a:tc>
                <a:tc>
                  <a:txBody>
                    <a:bodyPr/>
                    <a:lstStyle/>
                    <a:p>
                      <a:pPr marL="0" lvl="0" indent="0" algn="l" rtl="0">
                        <a:spcBef>
                          <a:spcPts val="0"/>
                        </a:spcBef>
                        <a:spcAft>
                          <a:spcPts val="0"/>
                        </a:spcAft>
                        <a:buNone/>
                      </a:pPr>
                      <a:r>
                        <a:rPr lang="fr-FR" sz="1100" dirty="0"/>
                        <a:t>Wordpress (site)</a:t>
                      </a:r>
                      <a:endParaRPr sz="1100" dirty="0"/>
                    </a:p>
                  </a:txBody>
                  <a:tcPr marL="91425" marR="91425" marT="91425" marB="91425"/>
                </a:tc>
                <a:tc>
                  <a:txBody>
                    <a:bodyPr/>
                    <a:lstStyle/>
                    <a:p>
                      <a:pPr marL="0" lvl="0" indent="0" algn="l" rtl="0">
                        <a:spcBef>
                          <a:spcPts val="0"/>
                        </a:spcBef>
                        <a:spcAft>
                          <a:spcPts val="0"/>
                        </a:spcAft>
                        <a:buNone/>
                      </a:pPr>
                      <a:r>
                        <a:rPr lang="fr-FR" sz="1100" dirty="0" err="1"/>
                        <a:t>Firebase</a:t>
                      </a:r>
                      <a:r>
                        <a:rPr lang="fr-FR" sz="1100" dirty="0"/>
                        <a:t> (notifs, </a:t>
                      </a:r>
                      <a:r>
                        <a:rPr lang="fr-FR" sz="1100" dirty="0" err="1"/>
                        <a:t>bdd</a:t>
                      </a:r>
                      <a:r>
                        <a:rPr lang="fr-FR" sz="1100" dirty="0"/>
                        <a:t>, messagerie…) </a:t>
                      </a:r>
                      <a:endParaRPr sz="1100" dirty="0"/>
                    </a:p>
                  </a:txBody>
                  <a:tcPr marL="91425" marR="91425" marT="91425" marB="91425"/>
                </a:tc>
                <a:extLst>
                  <a:ext uri="{0D108BD9-81ED-4DB2-BD59-A6C34878D82A}">
                    <a16:rowId xmlns:a16="http://schemas.microsoft.com/office/drawing/2014/main" val="10001"/>
                  </a:ext>
                </a:extLst>
              </a:tr>
              <a:tr h="346204">
                <a:tc>
                  <a:txBody>
                    <a:bodyPr/>
                    <a:lstStyle/>
                    <a:p>
                      <a:pPr marL="0" lvl="0" indent="0" algn="l" rtl="0">
                        <a:spcBef>
                          <a:spcPts val="0"/>
                        </a:spcBef>
                        <a:spcAft>
                          <a:spcPts val="0"/>
                        </a:spcAft>
                        <a:buNone/>
                      </a:pPr>
                      <a:r>
                        <a:rPr lang="fr-FR" sz="1100" dirty="0"/>
                        <a:t>Html CSS (site web/vitrine)</a:t>
                      </a:r>
                      <a:endParaRPr sz="1100" dirty="0"/>
                    </a:p>
                  </a:txBody>
                  <a:tcPr marL="91425" marR="91425" marT="91425" marB="91425"/>
                </a:tc>
                <a:tc>
                  <a:txBody>
                    <a:bodyPr/>
                    <a:lstStyle/>
                    <a:p>
                      <a:pPr marL="0" lvl="0" indent="0" algn="l" rtl="0">
                        <a:spcBef>
                          <a:spcPts val="0"/>
                        </a:spcBef>
                        <a:spcAft>
                          <a:spcPts val="0"/>
                        </a:spcAft>
                        <a:buNone/>
                      </a:pPr>
                      <a:r>
                        <a:rPr lang="fr-FR" sz="1100" dirty="0" err="1"/>
                        <a:t>Shopify</a:t>
                      </a:r>
                      <a:r>
                        <a:rPr lang="fr-FR" sz="1100" dirty="0"/>
                        <a:t> (site e-commerce)</a:t>
                      </a:r>
                      <a:endParaRPr sz="1100" dirty="0"/>
                    </a:p>
                  </a:txBody>
                  <a:tcPr marL="91425" marR="91425" marT="91425" marB="91425"/>
                </a:tc>
                <a:tc>
                  <a:txBody>
                    <a:bodyPr/>
                    <a:lstStyle/>
                    <a:p>
                      <a:pPr marL="0" lvl="0" indent="0" algn="l" rtl="0">
                        <a:spcBef>
                          <a:spcPts val="0"/>
                        </a:spcBef>
                        <a:spcAft>
                          <a:spcPts val="0"/>
                        </a:spcAft>
                        <a:buNone/>
                      </a:pPr>
                      <a:r>
                        <a:rPr lang="fr-FR" sz="1100" dirty="0" err="1"/>
                        <a:t>Mailchimp</a:t>
                      </a:r>
                      <a:r>
                        <a:rPr lang="fr-FR" sz="1100" dirty="0"/>
                        <a:t> (envoi mail)</a:t>
                      </a:r>
                      <a:endParaRPr sz="1100" dirty="0"/>
                    </a:p>
                  </a:txBody>
                  <a:tcPr marL="91425" marR="91425" marT="91425" marB="91425"/>
                </a:tc>
                <a:extLst>
                  <a:ext uri="{0D108BD9-81ED-4DB2-BD59-A6C34878D82A}">
                    <a16:rowId xmlns:a16="http://schemas.microsoft.com/office/drawing/2014/main" val="10002"/>
                  </a:ext>
                </a:extLst>
              </a:tr>
              <a:tr h="346204">
                <a:tc>
                  <a:txBody>
                    <a:bodyPr/>
                    <a:lstStyle/>
                    <a:p>
                      <a:pPr marL="0" lvl="0" indent="0" algn="l" rtl="0">
                        <a:spcBef>
                          <a:spcPts val="0"/>
                        </a:spcBef>
                        <a:spcAft>
                          <a:spcPts val="0"/>
                        </a:spcAft>
                        <a:buNone/>
                      </a:pPr>
                      <a:r>
                        <a:rPr lang="fr-FR" sz="1100" dirty="0"/>
                        <a:t>JavaScript (site web) </a:t>
                      </a:r>
                      <a:endParaRPr sz="1100" dirty="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r>
                        <a:rPr lang="fr-FR" sz="1100" dirty="0" err="1"/>
                        <a:t>Stripe</a:t>
                      </a:r>
                      <a:r>
                        <a:rPr lang="fr-FR" sz="1100" dirty="0"/>
                        <a:t> (paiement) </a:t>
                      </a:r>
                      <a:endParaRPr sz="1100" dirty="0"/>
                    </a:p>
                  </a:txBody>
                  <a:tcPr marL="91425" marR="91425" marT="91425" marB="91425"/>
                </a:tc>
                <a:extLst>
                  <a:ext uri="{0D108BD9-81ED-4DB2-BD59-A6C34878D82A}">
                    <a16:rowId xmlns:a16="http://schemas.microsoft.com/office/drawing/2014/main" val="10003"/>
                  </a:ext>
                </a:extLst>
              </a:tr>
              <a:tr h="500213">
                <a:tc>
                  <a:txBody>
                    <a:bodyPr/>
                    <a:lstStyle/>
                    <a:p>
                      <a:pPr marL="0" lvl="0" indent="0" algn="l" rtl="0">
                        <a:spcBef>
                          <a:spcPts val="0"/>
                        </a:spcBef>
                        <a:spcAft>
                          <a:spcPts val="0"/>
                        </a:spcAft>
                        <a:buNone/>
                      </a:pPr>
                      <a:r>
                        <a:rPr lang="fr-FR" sz="1100" dirty="0" err="1"/>
                        <a:t>React</a:t>
                      </a:r>
                      <a:r>
                        <a:rPr lang="fr-FR" sz="1100" dirty="0"/>
                        <a:t> native (dev hybride IOS Android)</a:t>
                      </a:r>
                      <a:endParaRPr sz="1100" dirty="0"/>
                    </a:p>
                  </a:txBody>
                  <a:tcPr marL="91425" marR="91425" marT="91425" marB="91425"/>
                </a:tc>
                <a:tc>
                  <a:txBody>
                    <a:bodyPr/>
                    <a:lstStyle/>
                    <a:p>
                      <a:pPr marL="0" lvl="0" indent="0" algn="l" rtl="0">
                        <a:spcBef>
                          <a:spcPts val="0"/>
                        </a:spcBef>
                        <a:spcAft>
                          <a:spcPts val="0"/>
                        </a:spcAft>
                        <a:buNone/>
                      </a:pPr>
                      <a:endParaRPr sz="1100" dirty="0"/>
                    </a:p>
                  </a:txBody>
                  <a:tcPr marL="91425" marR="91425" marT="91425" marB="91425"/>
                </a:tc>
                <a:tc>
                  <a:txBody>
                    <a:bodyPr/>
                    <a:lstStyle/>
                    <a:p>
                      <a:pPr marL="0" lvl="0" indent="0" algn="l" rtl="0">
                        <a:spcBef>
                          <a:spcPts val="0"/>
                        </a:spcBef>
                        <a:spcAft>
                          <a:spcPts val="0"/>
                        </a:spcAft>
                        <a:buNone/>
                      </a:pPr>
                      <a:r>
                        <a:rPr lang="fr-FR" sz="1100" dirty="0"/>
                        <a:t>MongoDB (</a:t>
                      </a:r>
                      <a:r>
                        <a:rPr lang="fr-FR" sz="1100" dirty="0" err="1"/>
                        <a:t>bdd</a:t>
                      </a:r>
                      <a:r>
                        <a:rPr lang="fr-FR" sz="1100" dirty="0"/>
                        <a:t>) </a:t>
                      </a:r>
                      <a:endParaRPr sz="1100" dirty="0"/>
                    </a:p>
                  </a:txBody>
                  <a:tcPr marL="91425" marR="91425" marT="91425" marB="91425"/>
                </a:tc>
                <a:extLst>
                  <a:ext uri="{0D108BD9-81ED-4DB2-BD59-A6C34878D82A}">
                    <a16:rowId xmlns:a16="http://schemas.microsoft.com/office/drawing/2014/main" val="10004"/>
                  </a:ext>
                </a:extLst>
              </a:tr>
              <a:tr h="346204">
                <a:tc>
                  <a:txBody>
                    <a:bodyPr/>
                    <a:lstStyle/>
                    <a:p>
                      <a:pPr marL="0" lvl="0" indent="0" algn="l" rtl="0">
                        <a:spcBef>
                          <a:spcPts val="0"/>
                        </a:spcBef>
                        <a:spcAft>
                          <a:spcPts val="0"/>
                        </a:spcAft>
                        <a:buNone/>
                      </a:pPr>
                      <a:r>
                        <a:rPr lang="fr-FR" sz="1100" dirty="0"/>
                        <a:t>Flutter (dev hybride IOS Android)</a:t>
                      </a:r>
                      <a:endParaRPr sz="1100" dirty="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dirty="0"/>
                    </a:p>
                  </a:txBody>
                  <a:tcPr marL="91425" marR="91425" marT="91425" marB="91425"/>
                </a:tc>
                <a:extLst>
                  <a:ext uri="{0D108BD9-81ED-4DB2-BD59-A6C34878D82A}">
                    <a16:rowId xmlns:a16="http://schemas.microsoft.com/office/drawing/2014/main" val="10005"/>
                  </a:ext>
                </a:extLst>
              </a:tr>
              <a:tr h="346204">
                <a:tc>
                  <a:txBody>
                    <a:bodyPr/>
                    <a:lstStyle/>
                    <a:p>
                      <a:pPr marL="0" lvl="0" indent="0" algn="l" rtl="0">
                        <a:spcBef>
                          <a:spcPts val="0"/>
                        </a:spcBef>
                        <a:spcAft>
                          <a:spcPts val="0"/>
                        </a:spcAft>
                        <a:buNone/>
                      </a:pPr>
                      <a:r>
                        <a:rPr lang="fr-FR" sz="1100" dirty="0"/>
                        <a:t>Swift (IOS)</a:t>
                      </a:r>
                      <a:endParaRPr sz="1100" dirty="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6"/>
                  </a:ext>
                </a:extLst>
              </a:tr>
              <a:tr h="346204">
                <a:tc>
                  <a:txBody>
                    <a:bodyPr/>
                    <a:lstStyle/>
                    <a:p>
                      <a:pPr marL="0" lvl="0" indent="0" algn="l" rtl="0">
                        <a:spcBef>
                          <a:spcPts val="0"/>
                        </a:spcBef>
                        <a:spcAft>
                          <a:spcPts val="0"/>
                        </a:spcAft>
                        <a:buNone/>
                      </a:pPr>
                      <a:r>
                        <a:rPr lang="fr-FR" sz="1100" dirty="0" err="1"/>
                        <a:t>Kotlin</a:t>
                      </a:r>
                      <a:r>
                        <a:rPr lang="fr-FR" sz="1100" dirty="0"/>
                        <a:t> (Android)</a:t>
                      </a:r>
                      <a:endParaRPr sz="1100" dirty="0"/>
                    </a:p>
                  </a:txBody>
                  <a:tcPr marL="91425" marR="91425" marT="91425" marB="91425"/>
                </a:tc>
                <a:tc>
                  <a:txBody>
                    <a:bodyPr/>
                    <a:lstStyle/>
                    <a:p>
                      <a:pPr marL="0" lvl="0" indent="0" algn="l" rtl="0">
                        <a:spcBef>
                          <a:spcPts val="0"/>
                        </a:spcBef>
                        <a:spcAft>
                          <a:spcPts val="0"/>
                        </a:spcAft>
                        <a:buNone/>
                      </a:pPr>
                      <a:endParaRPr sz="1100" dirty="0"/>
                    </a:p>
                  </a:txBody>
                  <a:tcPr marL="91425" marR="91425" marT="91425" marB="91425"/>
                </a:tc>
                <a:tc>
                  <a:txBody>
                    <a:bodyPr/>
                    <a:lstStyle/>
                    <a:p>
                      <a:pPr marL="0" lvl="0" indent="0" algn="l" rtl="0">
                        <a:spcBef>
                          <a:spcPts val="0"/>
                        </a:spcBef>
                        <a:spcAft>
                          <a:spcPts val="0"/>
                        </a:spcAft>
                        <a:buNone/>
                      </a:pPr>
                      <a:endParaRPr sz="1100" dirty="0"/>
                    </a:p>
                  </a:txBody>
                  <a:tcPr marL="91425" marR="91425" marT="91425" marB="91425"/>
                </a:tc>
                <a:extLst>
                  <a:ext uri="{0D108BD9-81ED-4DB2-BD59-A6C34878D82A}">
                    <a16:rowId xmlns:a16="http://schemas.microsoft.com/office/drawing/2014/main" val="10007"/>
                  </a:ext>
                </a:extLst>
              </a:tr>
              <a:tr h="346204">
                <a:tc>
                  <a:txBody>
                    <a:bodyPr/>
                    <a:lstStyle/>
                    <a:p>
                      <a:pPr marL="0" lvl="0" indent="0" algn="l" rtl="0">
                        <a:spcBef>
                          <a:spcPts val="0"/>
                        </a:spcBef>
                        <a:spcAft>
                          <a:spcPts val="0"/>
                        </a:spcAft>
                        <a:buNone/>
                      </a:pPr>
                      <a:r>
                        <a:rPr lang="fr-FR" sz="1100" dirty="0"/>
                        <a:t>SQL (Gestion des données)</a:t>
                      </a:r>
                      <a:endParaRPr sz="1100" dirty="0"/>
                    </a:p>
                  </a:txBody>
                  <a:tcPr marL="91425" marR="91425" marT="91425" marB="91425"/>
                </a:tc>
                <a:tc>
                  <a:txBody>
                    <a:bodyPr/>
                    <a:lstStyle/>
                    <a:p>
                      <a:pPr marL="0" lvl="0" indent="0" algn="l" rtl="0">
                        <a:spcBef>
                          <a:spcPts val="0"/>
                        </a:spcBef>
                        <a:spcAft>
                          <a:spcPts val="0"/>
                        </a:spcAft>
                        <a:buNone/>
                      </a:pPr>
                      <a:endParaRPr sz="1100" dirty="0"/>
                    </a:p>
                  </a:txBody>
                  <a:tcPr marL="91425" marR="91425" marT="91425" marB="91425"/>
                </a:tc>
                <a:tc>
                  <a:txBody>
                    <a:bodyPr/>
                    <a:lstStyle/>
                    <a:p>
                      <a:pPr marL="0" lvl="0" indent="0" algn="l" rtl="0">
                        <a:spcBef>
                          <a:spcPts val="0"/>
                        </a:spcBef>
                        <a:spcAft>
                          <a:spcPts val="0"/>
                        </a:spcAft>
                        <a:buNone/>
                      </a:pPr>
                      <a:endParaRPr sz="1100" dirty="0"/>
                    </a:p>
                  </a:txBody>
                  <a:tcPr marL="91425" marR="91425" marT="91425" marB="91425"/>
                </a:tc>
                <a:extLst>
                  <a:ext uri="{0D108BD9-81ED-4DB2-BD59-A6C34878D82A}">
                    <a16:rowId xmlns:a16="http://schemas.microsoft.com/office/drawing/2014/main" val="2472733910"/>
                  </a:ext>
                </a:extLst>
              </a:tr>
            </a:tbl>
          </a:graphicData>
        </a:graphic>
      </p:graphicFrame>
    </p:spTree>
    <p:extLst>
      <p:ext uri="{BB962C8B-B14F-4D97-AF65-F5344CB8AC3E}">
        <p14:creationId xmlns:p14="http://schemas.microsoft.com/office/powerpoint/2010/main" val="3062641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c04a61d559_0_17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Schéma d’architecture BDD (facultatif – bonus +1) </a:t>
            </a:r>
            <a:endParaRPr sz="3200" dirty="0">
              <a:latin typeface="Nunito" pitchFamily="2" charset="77"/>
            </a:endParaRPr>
          </a:p>
        </p:txBody>
      </p:sp>
      <p:sp>
        <p:nvSpPr>
          <p:cNvPr id="139" name="Google Shape;139;gc04a61d559_0_1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22</a:t>
            </a:fld>
            <a:endParaRPr/>
          </a:p>
        </p:txBody>
      </p:sp>
      <p:pic>
        <p:nvPicPr>
          <p:cNvPr id="2" name="Google Shape;140;gc04a61d559_0_172">
            <a:extLst>
              <a:ext uri="{FF2B5EF4-FFF2-40B4-BE49-F238E27FC236}">
                <a16:creationId xmlns:a16="http://schemas.microsoft.com/office/drawing/2014/main" id="{8F7E3288-2BB8-936C-0A0E-8AEDF4C08FC4}"/>
              </a:ext>
            </a:extLst>
          </p:cNvPr>
          <p:cNvPicPr preferRelativeResize="0"/>
          <p:nvPr/>
        </p:nvPicPr>
        <p:blipFill>
          <a:blip r:embed="rId3">
            <a:alphaModFix/>
          </a:blip>
          <a:stretch>
            <a:fillRect/>
          </a:stretch>
        </p:blipFill>
        <p:spPr>
          <a:xfrm>
            <a:off x="1747100" y="1299625"/>
            <a:ext cx="4876800" cy="3276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bb940216cc_0_1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9</a:t>
            </a:r>
            <a:r>
              <a:rPr lang="fr-FR" sz="3200" baseline="30000" dirty="0">
                <a:latin typeface="Nunito" pitchFamily="2" charset="77"/>
              </a:rPr>
              <a:t>ième</a:t>
            </a:r>
            <a:r>
              <a:rPr lang="fr-FR" sz="3200" dirty="0">
                <a:latin typeface="Nunito" pitchFamily="2" charset="77"/>
              </a:rPr>
              <a:t> étape : Pistes créatives</a:t>
            </a:r>
            <a:endParaRPr sz="3200" dirty="0">
              <a:latin typeface="Nunito" pitchFamily="2" charset="77"/>
            </a:endParaRPr>
          </a:p>
        </p:txBody>
      </p:sp>
      <p:sp>
        <p:nvSpPr>
          <p:cNvPr id="96" name="Google Shape;96;gbb940216cc_0_11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97" name="Google Shape;97;gbb940216cc_0_1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fr-FR"/>
              <a:t>23</a:t>
            </a:fld>
            <a:endParaRPr/>
          </a:p>
        </p:txBody>
      </p:sp>
      <p:sp>
        <p:nvSpPr>
          <p:cNvPr id="2" name="Google Shape;103;gbdbd05fa3e_0_7">
            <a:extLst>
              <a:ext uri="{FF2B5EF4-FFF2-40B4-BE49-F238E27FC236}">
                <a16:creationId xmlns:a16="http://schemas.microsoft.com/office/drawing/2014/main" id="{A5B96E78-C9AE-3D5C-85B4-ADBCB430344D}"/>
              </a:ext>
            </a:extLst>
          </p:cNvPr>
          <p:cNvSpPr txBox="1">
            <a:spLocks/>
          </p:cNvSpPr>
          <p:nvPr/>
        </p:nvSpPr>
        <p:spPr>
          <a:xfrm>
            <a:off x="426575" y="1228225"/>
            <a:ext cx="8520600" cy="335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r>
              <a:rPr lang="fr-FR"/>
              <a:t>Expliquez le style, les effets, l’ambiance que l’on souhaite apporter à notre produit final</a:t>
            </a:r>
          </a:p>
          <a:p>
            <a:r>
              <a:rPr lang="fr-FR"/>
              <a:t>Réalisez un moodboard (vous permets d’avoir une vue d’ensemble des inspirations vers lesquelles on souhaite se tourner)</a:t>
            </a:r>
          </a:p>
          <a:p>
            <a:pPr marL="0" indent="0">
              <a:buFont typeface="Open Sans"/>
              <a:buNone/>
            </a:pPr>
            <a:endParaRPr lang="fr-FR" sz="1200" b="1">
              <a:latin typeface="Nunito"/>
              <a:ea typeface="Nunito"/>
              <a:cs typeface="Nunito"/>
              <a:sym typeface="Nunito"/>
            </a:endParaRPr>
          </a:p>
          <a:p>
            <a:pPr marL="0" indent="0">
              <a:buSzPts val="1100"/>
              <a:buFont typeface="Arial"/>
              <a:buNone/>
            </a:pPr>
            <a:endParaRPr lang="fr-FR" sz="1200">
              <a:latin typeface="Nunito"/>
              <a:ea typeface="Nunito"/>
              <a:cs typeface="Nunito"/>
              <a:sym typeface="Nunito"/>
            </a:endParaRPr>
          </a:p>
          <a:p>
            <a:pPr marL="0" indent="0">
              <a:buFont typeface="Open Sans"/>
              <a:buNone/>
            </a:pPr>
            <a:endParaRPr lang="fr-FR" sz="1200" b="1">
              <a:latin typeface="Nunito"/>
              <a:ea typeface="Nunito"/>
              <a:cs typeface="Nunito"/>
              <a:sym typeface="Nunito"/>
            </a:endParaRPr>
          </a:p>
          <a:p>
            <a:pPr marL="0" indent="0">
              <a:buSzPts val="1100"/>
              <a:buFont typeface="Arial"/>
              <a:buNone/>
            </a:pPr>
            <a:endParaRPr lang="fr-FR" sz="1200">
              <a:latin typeface="Nunito"/>
              <a:ea typeface="Nunito"/>
              <a:cs typeface="Nunito"/>
              <a:sym typeface="Nunito"/>
            </a:endParaRPr>
          </a:p>
          <a:p>
            <a:pPr marL="0" indent="0">
              <a:buFont typeface="Open Sans"/>
              <a:buNone/>
            </a:pPr>
            <a:endParaRPr lang="fr-FR" sz="1200" b="1">
              <a:latin typeface="Nunito"/>
              <a:ea typeface="Nunito"/>
              <a:cs typeface="Nunito"/>
              <a:sym typeface="Nunito"/>
            </a:endParaRPr>
          </a:p>
          <a:p>
            <a:pPr marL="0" indent="0">
              <a:buSzPts val="1100"/>
              <a:buFont typeface="Arial"/>
              <a:buNone/>
            </a:pPr>
            <a:endParaRPr lang="fr-F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8636E1-058E-445D-B6E6-B79D369725E2}"/>
              </a:ext>
            </a:extLst>
          </p:cNvPr>
          <p:cNvSpPr>
            <a:spLocks noGrp="1"/>
          </p:cNvSpPr>
          <p:nvPr>
            <p:ph type="title"/>
          </p:nvPr>
        </p:nvSpPr>
        <p:spPr/>
        <p:txBody>
          <a:bodyPr/>
          <a:lstStyle/>
          <a:p>
            <a:r>
              <a:rPr lang="fr-FR" sz="3200" dirty="0">
                <a:latin typeface="Nunito" pitchFamily="2" charset="77"/>
              </a:rPr>
              <a:t>Exemples </a:t>
            </a:r>
            <a:r>
              <a:rPr lang="fr-FR" sz="3200" dirty="0" err="1">
                <a:latin typeface="Nunito" pitchFamily="2" charset="77"/>
              </a:rPr>
              <a:t>moodboard</a:t>
            </a:r>
            <a:endParaRPr lang="fr-FR" sz="3200" dirty="0">
              <a:latin typeface="Nunito" pitchFamily="2" charset="77"/>
            </a:endParaRPr>
          </a:p>
        </p:txBody>
      </p:sp>
      <p:sp>
        <p:nvSpPr>
          <p:cNvPr id="4" name="Espace réservé du numéro de diapositive 3">
            <a:extLst>
              <a:ext uri="{FF2B5EF4-FFF2-40B4-BE49-F238E27FC236}">
                <a16:creationId xmlns:a16="http://schemas.microsoft.com/office/drawing/2014/main" id="{498C1959-3AE2-4CDC-80E0-FD24497B23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24</a:t>
            </a:fld>
            <a:endParaRPr lang="fr-FR"/>
          </a:p>
        </p:txBody>
      </p:sp>
      <p:pic>
        <p:nvPicPr>
          <p:cNvPr id="6" name="Image 5">
            <a:extLst>
              <a:ext uri="{FF2B5EF4-FFF2-40B4-BE49-F238E27FC236}">
                <a16:creationId xmlns:a16="http://schemas.microsoft.com/office/drawing/2014/main" id="{6CF75809-8C54-4BFF-97BE-FD12AE469C6A}"/>
              </a:ext>
            </a:extLst>
          </p:cNvPr>
          <p:cNvPicPr>
            <a:picLocks noChangeAspect="1"/>
          </p:cNvPicPr>
          <p:nvPr/>
        </p:nvPicPr>
        <p:blipFill>
          <a:blip r:embed="rId2"/>
          <a:stretch>
            <a:fillRect/>
          </a:stretch>
        </p:blipFill>
        <p:spPr>
          <a:xfrm>
            <a:off x="4858250" y="86683"/>
            <a:ext cx="4050250" cy="2678472"/>
          </a:xfrm>
          <a:prstGeom prst="rect">
            <a:avLst/>
          </a:prstGeom>
        </p:spPr>
      </p:pic>
      <p:pic>
        <p:nvPicPr>
          <p:cNvPr id="8" name="Image 7">
            <a:extLst>
              <a:ext uri="{FF2B5EF4-FFF2-40B4-BE49-F238E27FC236}">
                <a16:creationId xmlns:a16="http://schemas.microsoft.com/office/drawing/2014/main" id="{EED6C78E-8996-4599-808B-005A404DE23E}"/>
              </a:ext>
            </a:extLst>
          </p:cNvPr>
          <p:cNvPicPr>
            <a:picLocks noChangeAspect="1"/>
          </p:cNvPicPr>
          <p:nvPr/>
        </p:nvPicPr>
        <p:blipFill>
          <a:blip r:embed="rId3"/>
          <a:stretch>
            <a:fillRect/>
          </a:stretch>
        </p:blipFill>
        <p:spPr>
          <a:xfrm>
            <a:off x="887801" y="1479280"/>
            <a:ext cx="3397950" cy="2571750"/>
          </a:xfrm>
          <a:prstGeom prst="rect">
            <a:avLst/>
          </a:prstGeom>
        </p:spPr>
      </p:pic>
      <p:pic>
        <p:nvPicPr>
          <p:cNvPr id="10" name="Image 9">
            <a:extLst>
              <a:ext uri="{FF2B5EF4-FFF2-40B4-BE49-F238E27FC236}">
                <a16:creationId xmlns:a16="http://schemas.microsoft.com/office/drawing/2014/main" id="{F6D3DDF0-07A8-4F32-BD1A-088772C1E8E9}"/>
              </a:ext>
            </a:extLst>
          </p:cNvPr>
          <p:cNvPicPr>
            <a:picLocks noChangeAspect="1"/>
          </p:cNvPicPr>
          <p:nvPr/>
        </p:nvPicPr>
        <p:blipFill>
          <a:blip r:embed="rId4"/>
          <a:stretch>
            <a:fillRect/>
          </a:stretch>
        </p:blipFill>
        <p:spPr>
          <a:xfrm>
            <a:off x="5041899" y="2994397"/>
            <a:ext cx="3516869" cy="1970623"/>
          </a:xfrm>
          <a:prstGeom prst="rect">
            <a:avLst/>
          </a:prstGeom>
        </p:spPr>
      </p:pic>
    </p:spTree>
    <p:extLst>
      <p:ext uri="{BB962C8B-B14F-4D97-AF65-F5344CB8AC3E}">
        <p14:creationId xmlns:p14="http://schemas.microsoft.com/office/powerpoint/2010/main" val="40931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bb940216cc_0_19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10</a:t>
            </a:r>
            <a:r>
              <a:rPr lang="fr-FR" sz="3200" baseline="30000" dirty="0">
                <a:latin typeface="Nunito" pitchFamily="2" charset="77"/>
              </a:rPr>
              <a:t>ième</a:t>
            </a:r>
            <a:r>
              <a:rPr lang="fr-FR" sz="3200" dirty="0">
                <a:latin typeface="Nunito" pitchFamily="2" charset="77"/>
              </a:rPr>
              <a:t> étape : Arborescence produit</a:t>
            </a:r>
            <a:endParaRPr sz="3200" dirty="0">
              <a:latin typeface="Nunito" pitchFamily="2" charset="77"/>
            </a:endParaRPr>
          </a:p>
        </p:txBody>
      </p:sp>
      <p:sp>
        <p:nvSpPr>
          <p:cNvPr id="145" name="Google Shape;145;gbb940216cc_0_19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Se présente sous la forme d’un schéma</a:t>
            </a:r>
            <a:endParaRPr dirty="0"/>
          </a:p>
          <a:p>
            <a:pPr marL="457200" lvl="0" indent="-342900" algn="l" rtl="0">
              <a:lnSpc>
                <a:spcPct val="115000"/>
              </a:lnSpc>
              <a:spcBef>
                <a:spcPts val="0"/>
              </a:spcBef>
              <a:spcAft>
                <a:spcPts val="0"/>
              </a:spcAft>
              <a:buSzPts val="1800"/>
              <a:buChar char="●"/>
            </a:pPr>
            <a:r>
              <a:rPr lang="fr-FR" dirty="0"/>
              <a:t>Organise les pages du site en rubriques (organisation des contenus) </a:t>
            </a:r>
            <a:endParaRPr dirty="0"/>
          </a:p>
          <a:p>
            <a:pPr marL="457200" lvl="0" indent="-342900" algn="l" rtl="0">
              <a:lnSpc>
                <a:spcPct val="115000"/>
              </a:lnSpc>
              <a:spcBef>
                <a:spcPts val="0"/>
              </a:spcBef>
              <a:spcAft>
                <a:spcPts val="0"/>
              </a:spcAft>
              <a:buSzPts val="1800"/>
              <a:buChar char="●"/>
            </a:pPr>
            <a:r>
              <a:rPr lang="fr-FR" dirty="0"/>
              <a:t>Définit les différents niveaux de navigation</a:t>
            </a:r>
            <a:endParaRPr dirty="0"/>
          </a:p>
          <a:p>
            <a:pPr marL="457200" lvl="0" indent="-342900" algn="l" rtl="0">
              <a:lnSpc>
                <a:spcPct val="115000"/>
              </a:lnSpc>
              <a:spcBef>
                <a:spcPts val="0"/>
              </a:spcBef>
              <a:spcAft>
                <a:spcPts val="0"/>
              </a:spcAft>
              <a:buSzPts val="1800"/>
              <a:buChar char="●"/>
            </a:pPr>
            <a:r>
              <a:rPr lang="fr-FR" dirty="0"/>
              <a:t>Ce schéma peut être fait via des logiciels comme </a:t>
            </a:r>
            <a:r>
              <a:rPr lang="fr-FR" dirty="0" err="1"/>
              <a:t>Balsamiq</a:t>
            </a:r>
            <a:r>
              <a:rPr lang="fr-FR" dirty="0"/>
              <a:t>, </a:t>
            </a:r>
            <a:r>
              <a:rPr lang="fr-FR" dirty="0" err="1"/>
              <a:t>userflow</a:t>
            </a:r>
            <a:r>
              <a:rPr lang="fr-FR" dirty="0"/>
              <a:t> etc…</a:t>
            </a: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146" name="Google Shape;146;gbb940216cc_0_19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bdbd05fa3e_0_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3200" dirty="0">
                <a:latin typeface="Nunito" pitchFamily="2" charset="77"/>
              </a:rPr>
              <a:t>Exemple d'arborescence produit</a:t>
            </a:r>
            <a:endParaRPr sz="3200" dirty="0">
              <a:latin typeface="Nunito" pitchFamily="2" charset="77"/>
            </a:endParaRPr>
          </a:p>
        </p:txBody>
      </p:sp>
      <p:sp>
        <p:nvSpPr>
          <p:cNvPr id="152" name="Google Shape;152;gbdbd05fa3e_0_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fr-FR"/>
              <a:t>26</a:t>
            </a:fld>
            <a:endParaRPr/>
          </a:p>
        </p:txBody>
      </p:sp>
      <p:pic>
        <p:nvPicPr>
          <p:cNvPr id="153" name="Google Shape;153;gbdbd05fa3e_0_0"/>
          <p:cNvPicPr preferRelativeResize="0"/>
          <p:nvPr/>
        </p:nvPicPr>
        <p:blipFill>
          <a:blip r:embed="rId3">
            <a:alphaModFix/>
          </a:blip>
          <a:stretch>
            <a:fillRect/>
          </a:stretch>
        </p:blipFill>
        <p:spPr>
          <a:xfrm>
            <a:off x="786325" y="1147225"/>
            <a:ext cx="7382950" cy="3691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959B3-FE41-D9E2-5C00-2F7D5A0A5D2A}"/>
              </a:ext>
            </a:extLst>
          </p:cNvPr>
          <p:cNvSpPr>
            <a:spLocks noGrp="1"/>
          </p:cNvSpPr>
          <p:nvPr>
            <p:ph type="title"/>
          </p:nvPr>
        </p:nvSpPr>
        <p:spPr/>
        <p:txBody>
          <a:bodyPr/>
          <a:lstStyle/>
          <a:p>
            <a:r>
              <a:rPr lang="fr-FR" sz="3200" dirty="0">
                <a:latin typeface="Nunito" pitchFamily="2" charset="77"/>
              </a:rPr>
              <a:t>11</a:t>
            </a:r>
            <a:r>
              <a:rPr lang="fr-FR" sz="3200" baseline="30000" dirty="0">
                <a:latin typeface="Nunito" pitchFamily="2" charset="77"/>
              </a:rPr>
              <a:t>ième</a:t>
            </a:r>
            <a:r>
              <a:rPr lang="fr-FR" sz="3200" dirty="0">
                <a:latin typeface="Nunito" pitchFamily="2" charset="77"/>
              </a:rPr>
              <a:t> étape : Choix d’une méthodologie projet </a:t>
            </a:r>
          </a:p>
        </p:txBody>
      </p:sp>
      <p:sp>
        <p:nvSpPr>
          <p:cNvPr id="3" name="Espace réservé du texte 2">
            <a:extLst>
              <a:ext uri="{FF2B5EF4-FFF2-40B4-BE49-F238E27FC236}">
                <a16:creationId xmlns:a16="http://schemas.microsoft.com/office/drawing/2014/main" id="{67EA015B-568B-312A-5623-401472C5C57B}"/>
              </a:ext>
            </a:extLst>
          </p:cNvPr>
          <p:cNvSpPr>
            <a:spLocks noGrp="1"/>
          </p:cNvSpPr>
          <p:nvPr>
            <p:ph type="body" idx="1"/>
          </p:nvPr>
        </p:nvSpPr>
        <p:spPr/>
        <p:txBody>
          <a:bodyPr/>
          <a:lstStyle/>
          <a:p>
            <a:r>
              <a:rPr lang="fr-FR" dirty="0"/>
              <a:t>Choisir sur quelle méthodologie de projet vous souhaitez partir : Classique ou Agile </a:t>
            </a:r>
          </a:p>
          <a:p>
            <a:r>
              <a:rPr lang="fr-FR" dirty="0"/>
              <a:t>Choix à présenter et expliquer </a:t>
            </a:r>
          </a:p>
          <a:p>
            <a:endParaRPr lang="fr-FR" dirty="0"/>
          </a:p>
        </p:txBody>
      </p:sp>
      <p:sp>
        <p:nvSpPr>
          <p:cNvPr id="4" name="Espace réservé du numéro de diapositive 3">
            <a:extLst>
              <a:ext uri="{FF2B5EF4-FFF2-40B4-BE49-F238E27FC236}">
                <a16:creationId xmlns:a16="http://schemas.microsoft.com/office/drawing/2014/main" id="{07897981-D8FC-4BCB-53A3-6422DF0B85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27</a:t>
            </a:fld>
            <a:endParaRPr lang="fr-FR"/>
          </a:p>
        </p:txBody>
      </p:sp>
    </p:spTree>
    <p:extLst>
      <p:ext uri="{BB962C8B-B14F-4D97-AF65-F5344CB8AC3E}">
        <p14:creationId xmlns:p14="http://schemas.microsoft.com/office/powerpoint/2010/main" val="2113381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bd6994efb2_0_19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sz="3200" dirty="0">
                <a:latin typeface="Nunito" pitchFamily="2" charset="77"/>
              </a:rPr>
              <a:t>12</a:t>
            </a:r>
            <a:r>
              <a:rPr lang="fr-FR" sz="3200" baseline="30000" dirty="0">
                <a:latin typeface="Nunito" pitchFamily="2" charset="77"/>
              </a:rPr>
              <a:t>ième</a:t>
            </a:r>
            <a:r>
              <a:rPr lang="fr-FR" sz="3200" dirty="0">
                <a:latin typeface="Nunito" pitchFamily="2" charset="77"/>
              </a:rPr>
              <a:t> étape : Spécifications fonctionnelles</a:t>
            </a:r>
            <a:endParaRPr sz="3200" dirty="0">
              <a:latin typeface="Nunito" pitchFamily="2" charset="77"/>
            </a:endParaRPr>
          </a:p>
        </p:txBody>
      </p:sp>
      <p:sp>
        <p:nvSpPr>
          <p:cNvPr id="96" name="Google Shape;96;gbd6994efb2_0_19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fr-FR" dirty="0"/>
              <a:t>Définir et valider tous les comportements que l’on attend sur un produit </a:t>
            </a:r>
            <a:endParaRPr dirty="0"/>
          </a:p>
          <a:p>
            <a:pPr marL="914400" lvl="0" indent="0" algn="l" rtl="0">
              <a:lnSpc>
                <a:spcPct val="115000"/>
              </a:lnSpc>
              <a:spcBef>
                <a:spcPts val="0"/>
              </a:spcBef>
              <a:spcAft>
                <a:spcPts val="0"/>
              </a:spcAft>
              <a:buNone/>
            </a:pPr>
            <a:endParaRPr dirty="0"/>
          </a:p>
          <a:p>
            <a:pPr marL="457200" lvl="0" indent="-342900" algn="l" rtl="0">
              <a:lnSpc>
                <a:spcPct val="115000"/>
              </a:lnSpc>
              <a:spcBef>
                <a:spcPts val="0"/>
              </a:spcBef>
              <a:spcAft>
                <a:spcPts val="0"/>
              </a:spcAft>
              <a:buSzPts val="1800"/>
              <a:buChar char="●"/>
            </a:pPr>
            <a:r>
              <a:rPr lang="fr-FR" dirty="0"/>
              <a:t>Plusieurs options de rédaction possibles</a:t>
            </a:r>
            <a:endParaRPr dirty="0"/>
          </a:p>
          <a:p>
            <a:pPr marL="914400" lvl="1" indent="-317500" algn="l" rtl="0">
              <a:spcBef>
                <a:spcPts val="0"/>
              </a:spcBef>
              <a:spcAft>
                <a:spcPts val="0"/>
              </a:spcAft>
              <a:buSzPts val="1400"/>
              <a:buChar char="○"/>
            </a:pPr>
            <a:r>
              <a:rPr lang="fr-FR" dirty="0"/>
              <a:t>Texte organisé par sections/écrans et/ou groupes de fonctionnalités sur un </a:t>
            </a:r>
            <a:r>
              <a:rPr lang="fr-FR" dirty="0" err="1"/>
              <a:t>word</a:t>
            </a:r>
            <a:r>
              <a:rPr lang="fr-FR" dirty="0"/>
              <a:t>, </a:t>
            </a:r>
            <a:r>
              <a:rPr lang="fr-FR" dirty="0" err="1"/>
              <a:t>excel</a:t>
            </a:r>
            <a:r>
              <a:rPr lang="fr-FR" dirty="0"/>
              <a:t>, </a:t>
            </a:r>
            <a:r>
              <a:rPr lang="fr-FR" dirty="0" err="1"/>
              <a:t>ppt</a:t>
            </a:r>
            <a:r>
              <a:rPr lang="fr-FR" dirty="0"/>
              <a:t> ou autre …</a:t>
            </a:r>
            <a:endParaRPr dirty="0"/>
          </a:p>
          <a:p>
            <a:pPr marL="914400" lvl="1" indent="-317500" algn="l" rtl="0">
              <a:spcBef>
                <a:spcPts val="0"/>
              </a:spcBef>
              <a:spcAft>
                <a:spcPts val="0"/>
              </a:spcAft>
              <a:buSzPts val="1400"/>
              <a:buChar char="○"/>
            </a:pPr>
            <a:r>
              <a:rPr lang="fr-FR" dirty="0"/>
              <a:t>Rédaction sous forme de user stories dans un logiciel type </a:t>
            </a:r>
            <a:r>
              <a:rPr lang="fr-FR" dirty="0" err="1"/>
              <a:t>trello</a:t>
            </a:r>
            <a:r>
              <a:rPr lang="fr-FR" dirty="0"/>
              <a:t>, </a:t>
            </a:r>
            <a:r>
              <a:rPr lang="fr-FR" dirty="0" err="1"/>
              <a:t>jira</a:t>
            </a:r>
            <a:r>
              <a:rPr lang="fr-FR" dirty="0"/>
              <a:t> ou autre… </a:t>
            </a:r>
            <a:endParaRPr dirty="0"/>
          </a:p>
          <a:p>
            <a:pPr marL="914400" lvl="0" indent="0" algn="l" rtl="0">
              <a:spcBef>
                <a:spcPts val="0"/>
              </a:spcBef>
              <a:spcAft>
                <a:spcPts val="0"/>
              </a:spcAft>
              <a:buNone/>
            </a:pPr>
            <a:endParaRPr dirty="0"/>
          </a:p>
          <a:p>
            <a:pPr marL="4572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r>
              <a:rPr lang="fr-FR" dirty="0"/>
              <a:t> </a:t>
            </a:r>
            <a:endParaRPr dirty="0"/>
          </a:p>
          <a:p>
            <a:pPr marL="91440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97" name="Google Shape;97;gbd6994efb2_0_19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fr-F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F62413-0D6C-228D-2C6E-0DF32836B288}"/>
              </a:ext>
            </a:extLst>
          </p:cNvPr>
          <p:cNvSpPr>
            <a:spLocks noGrp="1"/>
          </p:cNvSpPr>
          <p:nvPr>
            <p:ph type="title"/>
          </p:nvPr>
        </p:nvSpPr>
        <p:spPr/>
        <p:txBody>
          <a:bodyPr/>
          <a:lstStyle/>
          <a:p>
            <a:r>
              <a:rPr lang="fr-FR" dirty="0">
                <a:latin typeface="Nunito" pitchFamily="2" charset="77"/>
              </a:rPr>
              <a:t>OPTION 1</a:t>
            </a:r>
          </a:p>
        </p:txBody>
      </p:sp>
      <p:sp>
        <p:nvSpPr>
          <p:cNvPr id="3" name="Espace réservé du numéro de diapositive 2">
            <a:extLst>
              <a:ext uri="{FF2B5EF4-FFF2-40B4-BE49-F238E27FC236}">
                <a16:creationId xmlns:a16="http://schemas.microsoft.com/office/drawing/2014/main" id="{71EA8DB6-3A16-0B97-006B-1ECA966673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29</a:t>
            </a:fld>
            <a:endParaRPr lang="fr-FR"/>
          </a:p>
        </p:txBody>
      </p:sp>
    </p:spTree>
    <p:extLst>
      <p:ext uri="{BB962C8B-B14F-4D97-AF65-F5344CB8AC3E}">
        <p14:creationId xmlns:p14="http://schemas.microsoft.com/office/powerpoint/2010/main" val="3530399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bd6994efb2_0_25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a:t>Format texte </a:t>
            </a:r>
            <a:endParaRPr/>
          </a:p>
        </p:txBody>
      </p:sp>
      <p:sp>
        <p:nvSpPr>
          <p:cNvPr id="103" name="Google Shape;103;gbd6994efb2_0_257"/>
          <p:cNvSpPr txBox="1">
            <a:spLocks noGrp="1"/>
          </p:cNvSpPr>
          <p:nvPr>
            <p:ph type="body" idx="1"/>
          </p:nvPr>
        </p:nvSpPr>
        <p:spPr>
          <a:xfrm>
            <a:off x="311700" y="1005475"/>
            <a:ext cx="8520600" cy="40899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1400"/>
              </a:spcBef>
              <a:spcAft>
                <a:spcPts val="0"/>
              </a:spcAft>
              <a:buSzPts val="1600"/>
              <a:buChar char="●"/>
            </a:pPr>
            <a:r>
              <a:rPr lang="fr-FR" sz="1600" dirty="0"/>
              <a:t>Organiser le document en numérotant les parties/sous-parties :</a:t>
            </a:r>
            <a:endParaRPr sz="1600" dirty="0"/>
          </a:p>
          <a:p>
            <a:pPr marL="914400" lvl="1" indent="-304800" algn="l" rtl="0">
              <a:lnSpc>
                <a:spcPct val="115000"/>
              </a:lnSpc>
              <a:spcBef>
                <a:spcPts val="0"/>
              </a:spcBef>
              <a:spcAft>
                <a:spcPts val="0"/>
              </a:spcAft>
              <a:buSzPts val="1200"/>
              <a:buChar char="○"/>
            </a:pPr>
            <a:r>
              <a:rPr lang="fr-FR" sz="1200" dirty="0"/>
              <a:t>Par thèmes</a:t>
            </a:r>
            <a:endParaRPr sz="1200" dirty="0"/>
          </a:p>
          <a:p>
            <a:pPr marL="914400" lvl="1" indent="-304800" algn="l" rtl="0">
              <a:lnSpc>
                <a:spcPct val="115000"/>
              </a:lnSpc>
              <a:spcBef>
                <a:spcPts val="0"/>
              </a:spcBef>
              <a:spcAft>
                <a:spcPts val="0"/>
              </a:spcAft>
              <a:buSzPts val="1200"/>
              <a:buChar char="○"/>
            </a:pPr>
            <a:r>
              <a:rPr lang="fr-FR" sz="1200" dirty="0"/>
              <a:t>Par parcours utilisateur</a:t>
            </a:r>
            <a:endParaRPr sz="1200" dirty="0"/>
          </a:p>
          <a:p>
            <a:pPr marL="914400" lvl="1" indent="-304800" algn="l" rtl="0">
              <a:lnSpc>
                <a:spcPct val="100000"/>
              </a:lnSpc>
              <a:spcBef>
                <a:spcPts val="0"/>
              </a:spcBef>
              <a:spcAft>
                <a:spcPts val="0"/>
              </a:spcAft>
              <a:buSzPts val="1200"/>
              <a:buChar char="○"/>
            </a:pPr>
            <a:r>
              <a:rPr lang="fr-FR" sz="1200" dirty="0"/>
              <a:t>Par écrans</a:t>
            </a:r>
            <a:endParaRPr sz="1200" dirty="0"/>
          </a:p>
          <a:p>
            <a:pPr marL="914400" lvl="0" indent="0" algn="l" rtl="0">
              <a:lnSpc>
                <a:spcPct val="100000"/>
              </a:lnSpc>
              <a:spcBef>
                <a:spcPts val="1400"/>
              </a:spcBef>
              <a:spcAft>
                <a:spcPts val="0"/>
              </a:spcAft>
              <a:buNone/>
            </a:pPr>
            <a:endParaRPr sz="600" dirty="0"/>
          </a:p>
          <a:p>
            <a:pPr marL="457200" lvl="0" indent="-330200" algn="l" rtl="0">
              <a:lnSpc>
                <a:spcPct val="100000"/>
              </a:lnSpc>
              <a:spcBef>
                <a:spcPts val="1400"/>
              </a:spcBef>
              <a:spcAft>
                <a:spcPts val="0"/>
              </a:spcAft>
              <a:buSzPts val="1600"/>
              <a:buChar char="●"/>
            </a:pPr>
            <a:r>
              <a:rPr lang="fr-FR" sz="1600" dirty="0"/>
              <a:t>Utiliser des graphiques et des maquettes pour illustrer le CDC  et pouvoir définir le comportement de façon visuelle</a:t>
            </a:r>
            <a:endParaRPr sz="1600" dirty="0"/>
          </a:p>
          <a:p>
            <a:pPr marL="457200" lvl="0" indent="0" algn="l" rtl="0">
              <a:lnSpc>
                <a:spcPct val="100000"/>
              </a:lnSpc>
              <a:spcBef>
                <a:spcPts val="1400"/>
              </a:spcBef>
              <a:spcAft>
                <a:spcPts val="0"/>
              </a:spcAft>
              <a:buNone/>
            </a:pPr>
            <a:endParaRPr sz="100" dirty="0"/>
          </a:p>
          <a:p>
            <a:pPr marL="457200" lvl="0" indent="-330200" algn="l" rtl="0">
              <a:lnSpc>
                <a:spcPct val="100000"/>
              </a:lnSpc>
              <a:spcBef>
                <a:spcPts val="1400"/>
              </a:spcBef>
              <a:spcAft>
                <a:spcPts val="0"/>
              </a:spcAft>
              <a:buSzPts val="1600"/>
              <a:buChar char="●"/>
            </a:pPr>
            <a:r>
              <a:rPr lang="fr-FR" sz="1600" dirty="0"/>
              <a:t>Détailler minutieusement : </a:t>
            </a:r>
            <a:endParaRPr sz="1600" dirty="0"/>
          </a:p>
          <a:p>
            <a:pPr marL="914400" lvl="1" indent="-304800" algn="l" rtl="0">
              <a:lnSpc>
                <a:spcPct val="115000"/>
              </a:lnSpc>
              <a:spcBef>
                <a:spcPts val="0"/>
              </a:spcBef>
              <a:spcAft>
                <a:spcPts val="0"/>
              </a:spcAft>
              <a:buSzPts val="1200"/>
              <a:buChar char="○"/>
            </a:pPr>
            <a:r>
              <a:rPr lang="fr-FR" sz="1200" dirty="0"/>
              <a:t>points d’accès à l’écran/fonctionnalité </a:t>
            </a:r>
            <a:endParaRPr sz="1200" dirty="0"/>
          </a:p>
          <a:p>
            <a:pPr marL="914400" lvl="1" indent="-304800" algn="l" rtl="0">
              <a:lnSpc>
                <a:spcPct val="115000"/>
              </a:lnSpc>
              <a:spcBef>
                <a:spcPts val="0"/>
              </a:spcBef>
              <a:spcAft>
                <a:spcPts val="0"/>
              </a:spcAft>
              <a:buSzPts val="1200"/>
              <a:buChar char="○"/>
            </a:pPr>
            <a:r>
              <a:rPr lang="fr-FR" sz="1200" dirty="0"/>
              <a:t>ce que l’on voit à l’écran</a:t>
            </a:r>
            <a:endParaRPr sz="1200" dirty="0"/>
          </a:p>
          <a:p>
            <a:pPr marL="914400" lvl="1" indent="-304800" algn="l" rtl="0">
              <a:lnSpc>
                <a:spcPct val="115000"/>
              </a:lnSpc>
              <a:spcBef>
                <a:spcPts val="0"/>
              </a:spcBef>
              <a:spcAft>
                <a:spcPts val="0"/>
              </a:spcAft>
              <a:buSzPts val="1200"/>
              <a:buChar char="○"/>
            </a:pPr>
            <a:r>
              <a:rPr lang="fr-FR" sz="1200" dirty="0"/>
              <a:t>définir la typologie et le format des champs</a:t>
            </a:r>
            <a:endParaRPr sz="1200" dirty="0"/>
          </a:p>
          <a:p>
            <a:pPr marL="914400" lvl="1" indent="-304800" algn="l" rtl="0">
              <a:lnSpc>
                <a:spcPct val="115000"/>
              </a:lnSpc>
              <a:spcBef>
                <a:spcPts val="0"/>
              </a:spcBef>
              <a:spcAft>
                <a:spcPts val="0"/>
              </a:spcAft>
              <a:buSzPts val="1200"/>
              <a:buChar char="○"/>
            </a:pPr>
            <a:r>
              <a:rPr lang="fr-FR" sz="1200" dirty="0"/>
              <a:t>décrire ce qu’il se passe lorsqu’on effectue une action</a:t>
            </a:r>
            <a:endParaRPr sz="1200" dirty="0"/>
          </a:p>
          <a:p>
            <a:pPr marL="914400" lvl="1" indent="-304800" algn="l" rtl="0">
              <a:lnSpc>
                <a:spcPct val="115000"/>
              </a:lnSpc>
              <a:spcBef>
                <a:spcPts val="0"/>
              </a:spcBef>
              <a:spcAft>
                <a:spcPts val="0"/>
              </a:spcAft>
              <a:buSzPts val="1200"/>
              <a:buChar char="○"/>
            </a:pPr>
            <a:r>
              <a:rPr lang="fr-FR" sz="1200" dirty="0"/>
              <a:t>définir les </a:t>
            </a:r>
            <a:r>
              <a:rPr lang="fr-FR" sz="1200" dirty="0" err="1"/>
              <a:t>wordings</a:t>
            </a:r>
            <a:r>
              <a:rPr lang="fr-FR" sz="1200" dirty="0"/>
              <a:t> en cas d’erreur et de succès d’une action </a:t>
            </a:r>
            <a:endParaRPr sz="1200" dirty="0"/>
          </a:p>
          <a:p>
            <a:pPr marL="0" lvl="0" indent="0" algn="l" rtl="0">
              <a:spcBef>
                <a:spcPts val="1400"/>
              </a:spcBef>
              <a:spcAft>
                <a:spcPts val="0"/>
              </a:spcAft>
              <a:buNone/>
            </a:pPr>
            <a:endParaRPr dirty="0"/>
          </a:p>
          <a:p>
            <a:pPr marL="914400" lvl="0" indent="0" algn="l" rtl="0">
              <a:lnSpc>
                <a:spcPct val="115000"/>
              </a:lnSpc>
              <a:spcBef>
                <a:spcPts val="1400"/>
              </a:spcBef>
              <a:spcAft>
                <a:spcPts val="0"/>
              </a:spcAft>
              <a:buNone/>
            </a:pPr>
            <a:endParaRPr dirty="0"/>
          </a:p>
          <a:p>
            <a:pPr marL="0" lvl="0" indent="0" algn="l" rtl="0">
              <a:lnSpc>
                <a:spcPct val="115000"/>
              </a:lnSpc>
              <a:spcBef>
                <a:spcPts val="0"/>
              </a:spcBef>
              <a:spcAft>
                <a:spcPts val="0"/>
              </a:spcAft>
              <a:buNone/>
            </a:pPr>
            <a:endParaRPr dirty="0"/>
          </a:p>
          <a:p>
            <a:pPr marL="457200" lvl="0" indent="0" algn="l" rtl="0">
              <a:lnSpc>
                <a:spcPct val="115000"/>
              </a:lnSpc>
              <a:spcBef>
                <a:spcPts val="0"/>
              </a:spcBef>
              <a:spcAft>
                <a:spcPts val="0"/>
              </a:spcAft>
              <a:buNone/>
            </a:pPr>
            <a:endParaRPr dirty="0"/>
          </a:p>
        </p:txBody>
      </p:sp>
      <p:sp>
        <p:nvSpPr>
          <p:cNvPr id="104" name="Google Shape;104;gbd6994efb2_0_2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bd6994efb2_0_28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a:t>Exemple  </a:t>
            </a:r>
            <a:endParaRPr/>
          </a:p>
        </p:txBody>
      </p:sp>
      <p:sp>
        <p:nvSpPr>
          <p:cNvPr id="110" name="Google Shape;110;gbd6994efb2_0_2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31</a:t>
            </a:fld>
            <a:endParaRPr/>
          </a:p>
        </p:txBody>
      </p:sp>
      <p:sp>
        <p:nvSpPr>
          <p:cNvPr id="111" name="Google Shape;111;gbd6994efb2_0_285"/>
          <p:cNvSpPr txBox="1">
            <a:spLocks noGrp="1"/>
          </p:cNvSpPr>
          <p:nvPr>
            <p:ph type="body" idx="1"/>
          </p:nvPr>
        </p:nvSpPr>
        <p:spPr>
          <a:xfrm>
            <a:off x="3909975" y="1072825"/>
            <a:ext cx="5078400" cy="3354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fr-FR" sz="1200" b="1"/>
              <a:t>Règles : </a:t>
            </a:r>
            <a:endParaRPr sz="1200" b="1"/>
          </a:p>
          <a:p>
            <a:pPr marL="457200" lvl="0" indent="-304800" algn="l" rtl="0">
              <a:lnSpc>
                <a:spcPct val="150000"/>
              </a:lnSpc>
              <a:spcBef>
                <a:spcPts val="1200"/>
              </a:spcBef>
              <a:spcAft>
                <a:spcPts val="0"/>
              </a:spcAft>
              <a:buSzPts val="1200"/>
              <a:buChar char="●"/>
            </a:pPr>
            <a:r>
              <a:rPr lang="fr-FR" sz="1200"/>
              <a:t>Choisir un format d’affichage du texte et le maintenir dans l’ensemble du document (ex : [Champs BDD] {Texte} )</a:t>
            </a:r>
            <a:endParaRPr sz="1200"/>
          </a:p>
          <a:p>
            <a:pPr marL="457200" lvl="0" indent="-304800" algn="l" rtl="0">
              <a:lnSpc>
                <a:spcPct val="150000"/>
              </a:lnSpc>
              <a:spcBef>
                <a:spcPts val="0"/>
              </a:spcBef>
              <a:spcAft>
                <a:spcPts val="0"/>
              </a:spcAft>
              <a:buSzPts val="1200"/>
              <a:buChar char="●"/>
            </a:pPr>
            <a:r>
              <a:rPr lang="fr-FR" sz="1200"/>
              <a:t>Utiliser un code couleur pour distinguer les utilisateurs réalisant l’action </a:t>
            </a:r>
            <a:endParaRPr sz="1200"/>
          </a:p>
          <a:p>
            <a:pPr marL="457200" lvl="0" indent="-304800" algn="l" rtl="0">
              <a:lnSpc>
                <a:spcPct val="150000"/>
              </a:lnSpc>
              <a:spcBef>
                <a:spcPts val="0"/>
              </a:spcBef>
              <a:spcAft>
                <a:spcPts val="0"/>
              </a:spcAft>
              <a:buSzPts val="1200"/>
              <a:buChar char="●"/>
            </a:pPr>
            <a:r>
              <a:rPr lang="fr-FR" sz="1200"/>
              <a:t>Utiliser un code couleur pour afficher les points dont vous avez besoin d’un retour client ou d’un retour technique</a:t>
            </a:r>
            <a:endParaRPr sz="1200"/>
          </a:p>
          <a:p>
            <a:pPr marL="914400" lvl="0" indent="0" algn="l" rtl="0">
              <a:spcBef>
                <a:spcPts val="1200"/>
              </a:spcBef>
              <a:spcAft>
                <a:spcPts val="0"/>
              </a:spcAft>
              <a:buNone/>
            </a:pPr>
            <a:endParaRPr sz="1200"/>
          </a:p>
          <a:p>
            <a:pPr marL="914400" lvl="0" indent="0" algn="l" rtl="0">
              <a:spcBef>
                <a:spcPts val="1200"/>
              </a:spcBef>
              <a:spcAft>
                <a:spcPts val="0"/>
              </a:spcAft>
              <a:buNone/>
            </a:pPr>
            <a:endParaRPr sz="1200"/>
          </a:p>
          <a:p>
            <a:pPr marL="457200" lvl="0" indent="0" algn="l" rtl="0">
              <a:spcBef>
                <a:spcPts val="1400"/>
              </a:spcBef>
              <a:spcAft>
                <a:spcPts val="0"/>
              </a:spcAft>
              <a:buNone/>
            </a:pPr>
            <a:endParaRPr sz="1200"/>
          </a:p>
          <a:p>
            <a:pPr marL="457200" lvl="0" indent="0" algn="l" rtl="0">
              <a:lnSpc>
                <a:spcPct val="115000"/>
              </a:lnSpc>
              <a:spcBef>
                <a:spcPts val="1400"/>
              </a:spcBef>
              <a:spcAft>
                <a:spcPts val="0"/>
              </a:spcAft>
              <a:buNone/>
            </a:pPr>
            <a:endParaRPr sz="1200"/>
          </a:p>
          <a:p>
            <a:pPr marL="914400" lvl="0" indent="0" algn="l" rtl="0">
              <a:lnSpc>
                <a:spcPct val="115000"/>
              </a:lnSpc>
              <a:spcBef>
                <a:spcPts val="0"/>
              </a:spcBef>
              <a:spcAft>
                <a:spcPts val="0"/>
              </a:spcAft>
              <a:buNone/>
            </a:pPr>
            <a:endParaRPr sz="1200"/>
          </a:p>
          <a:p>
            <a:pPr marL="0" lvl="0" indent="0" algn="l" rtl="0">
              <a:lnSpc>
                <a:spcPct val="115000"/>
              </a:lnSpc>
              <a:spcBef>
                <a:spcPts val="0"/>
              </a:spcBef>
              <a:spcAft>
                <a:spcPts val="0"/>
              </a:spcAft>
              <a:buNone/>
            </a:pPr>
            <a:endParaRPr sz="1200"/>
          </a:p>
          <a:p>
            <a:pPr marL="457200" lvl="0" indent="0" algn="l" rtl="0">
              <a:lnSpc>
                <a:spcPct val="115000"/>
              </a:lnSpc>
              <a:spcBef>
                <a:spcPts val="0"/>
              </a:spcBef>
              <a:spcAft>
                <a:spcPts val="0"/>
              </a:spcAft>
              <a:buNone/>
            </a:pPr>
            <a:endParaRPr sz="1200"/>
          </a:p>
        </p:txBody>
      </p:sp>
      <p:grpSp>
        <p:nvGrpSpPr>
          <p:cNvPr id="112" name="Google Shape;112;gbd6994efb2_0_285"/>
          <p:cNvGrpSpPr/>
          <p:nvPr/>
        </p:nvGrpSpPr>
        <p:grpSpPr>
          <a:xfrm>
            <a:off x="441222" y="1072822"/>
            <a:ext cx="3289075" cy="3592751"/>
            <a:chOff x="4930972" y="1066397"/>
            <a:chExt cx="3289075" cy="3592751"/>
          </a:xfrm>
        </p:grpSpPr>
        <p:pic>
          <p:nvPicPr>
            <p:cNvPr id="113" name="Google Shape;113;gbd6994efb2_0_285"/>
            <p:cNvPicPr preferRelativeResize="0"/>
            <p:nvPr/>
          </p:nvPicPr>
          <p:blipFill>
            <a:blip r:embed="rId3">
              <a:alphaModFix/>
            </a:blip>
            <a:stretch>
              <a:fillRect/>
            </a:stretch>
          </p:blipFill>
          <p:spPr>
            <a:xfrm>
              <a:off x="4930972" y="1066397"/>
              <a:ext cx="3289075" cy="3592751"/>
            </a:xfrm>
            <a:prstGeom prst="rect">
              <a:avLst/>
            </a:prstGeom>
            <a:noFill/>
            <a:ln w="9525" cap="flat" cmpd="sng">
              <a:solidFill>
                <a:srgbClr val="000000"/>
              </a:solidFill>
              <a:prstDash val="solid"/>
              <a:round/>
              <a:headEnd type="none" w="sm" len="sm"/>
              <a:tailEnd type="none" w="sm" len="sm"/>
            </a:ln>
          </p:spPr>
        </p:pic>
        <p:sp>
          <p:nvSpPr>
            <p:cNvPr id="114" name="Google Shape;114;gbd6994efb2_0_285"/>
            <p:cNvSpPr/>
            <p:nvPr/>
          </p:nvSpPr>
          <p:spPr>
            <a:xfrm>
              <a:off x="5774369" y="4555044"/>
              <a:ext cx="2393400" cy="1041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F62413-0D6C-228D-2C6E-0DF32836B288}"/>
              </a:ext>
            </a:extLst>
          </p:cNvPr>
          <p:cNvSpPr>
            <a:spLocks noGrp="1"/>
          </p:cNvSpPr>
          <p:nvPr>
            <p:ph type="title"/>
          </p:nvPr>
        </p:nvSpPr>
        <p:spPr/>
        <p:txBody>
          <a:bodyPr/>
          <a:lstStyle/>
          <a:p>
            <a:r>
              <a:rPr lang="fr-FR" dirty="0">
                <a:latin typeface="Nunito" pitchFamily="2" charset="77"/>
              </a:rPr>
              <a:t>OPTION 2</a:t>
            </a:r>
          </a:p>
        </p:txBody>
      </p:sp>
      <p:sp>
        <p:nvSpPr>
          <p:cNvPr id="3" name="Espace réservé du numéro de diapositive 2">
            <a:extLst>
              <a:ext uri="{FF2B5EF4-FFF2-40B4-BE49-F238E27FC236}">
                <a16:creationId xmlns:a16="http://schemas.microsoft.com/office/drawing/2014/main" id="{71EA8DB6-3A16-0B97-006B-1ECA966673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32</a:t>
            </a:fld>
            <a:endParaRPr lang="fr-FR"/>
          </a:p>
        </p:txBody>
      </p:sp>
    </p:spTree>
    <p:extLst>
      <p:ext uri="{BB962C8B-B14F-4D97-AF65-F5344CB8AC3E}">
        <p14:creationId xmlns:p14="http://schemas.microsoft.com/office/powerpoint/2010/main" val="3545394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bd6994efb2_0_30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a:t>User Story</a:t>
            </a:r>
            <a:endParaRPr/>
          </a:p>
        </p:txBody>
      </p:sp>
      <p:sp>
        <p:nvSpPr>
          <p:cNvPr id="120" name="Google Shape;120;gbd6994efb2_0_30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spcBef>
                <a:spcPts val="1400"/>
              </a:spcBef>
              <a:spcAft>
                <a:spcPts val="0"/>
              </a:spcAft>
              <a:buSzPts val="1800"/>
              <a:buChar char="●"/>
            </a:pPr>
            <a:r>
              <a:rPr lang="fr-FR"/>
              <a:t>Reflète une conversation que l’on peut avoir avec un utilisateur et de la demande qu’il pourrait formuler concernant une fonctionnalité</a:t>
            </a:r>
            <a:br>
              <a:rPr lang="fr-FR" sz="1050">
                <a:latin typeface="Arial"/>
                <a:ea typeface="Arial"/>
                <a:cs typeface="Arial"/>
                <a:sym typeface="Arial"/>
              </a:rPr>
            </a:br>
            <a:endParaRPr sz="1050">
              <a:latin typeface="Arial"/>
              <a:ea typeface="Arial"/>
              <a:cs typeface="Arial"/>
              <a:sym typeface="Arial"/>
            </a:endParaRPr>
          </a:p>
          <a:p>
            <a:pPr marL="457200" lvl="0" indent="-342900" algn="l" rtl="0">
              <a:spcBef>
                <a:spcPts val="0"/>
              </a:spcBef>
              <a:spcAft>
                <a:spcPts val="0"/>
              </a:spcAft>
              <a:buSzPts val="1800"/>
              <a:buChar char="●"/>
            </a:pPr>
            <a:r>
              <a:rPr lang="fr-FR"/>
              <a:t>Décrit une fonctionnalité et porte la valeur de cette dernière</a:t>
            </a:r>
            <a:br>
              <a:rPr lang="fr-FR"/>
            </a:br>
            <a:endParaRPr/>
          </a:p>
          <a:p>
            <a:pPr marL="457200" lvl="0" indent="-342900" algn="l" rtl="0">
              <a:spcBef>
                <a:spcPts val="0"/>
              </a:spcBef>
              <a:spcAft>
                <a:spcPts val="0"/>
              </a:spcAft>
              <a:buSzPts val="1800"/>
              <a:buChar char="●"/>
            </a:pPr>
            <a:r>
              <a:rPr lang="fr-FR"/>
              <a:t>Contient assez d’informations pour que les développeurs puissent estimer</a:t>
            </a:r>
            <a:endParaRPr sz="1050">
              <a:latin typeface="Arial"/>
              <a:ea typeface="Arial"/>
              <a:cs typeface="Arial"/>
              <a:sym typeface="Arial"/>
            </a:endParaRPr>
          </a:p>
          <a:p>
            <a:pPr marL="457200" lvl="0" indent="0" algn="l" rtl="0">
              <a:lnSpc>
                <a:spcPct val="115000"/>
              </a:lnSpc>
              <a:spcBef>
                <a:spcPts val="1400"/>
              </a:spcBef>
              <a:spcAft>
                <a:spcPts val="0"/>
              </a:spcAft>
              <a:buNone/>
            </a:pPr>
            <a:endParaRPr/>
          </a:p>
          <a:p>
            <a:pPr marL="91440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endParaRPr/>
          </a:p>
          <a:p>
            <a:pPr marL="457200" lvl="0" indent="0" algn="l" rtl="0">
              <a:lnSpc>
                <a:spcPct val="115000"/>
              </a:lnSpc>
              <a:spcBef>
                <a:spcPts val="0"/>
              </a:spcBef>
              <a:spcAft>
                <a:spcPts val="0"/>
              </a:spcAft>
              <a:buNone/>
            </a:pPr>
            <a:endParaRPr/>
          </a:p>
        </p:txBody>
      </p:sp>
      <p:sp>
        <p:nvSpPr>
          <p:cNvPr id="121" name="Google Shape;121;gbd6994efb2_0_30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bd6994efb2_0_26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a:t>Comment créer une user story ? </a:t>
            </a:r>
            <a:endParaRPr/>
          </a:p>
        </p:txBody>
      </p:sp>
      <p:sp>
        <p:nvSpPr>
          <p:cNvPr id="127" name="Google Shape;127;gbd6994efb2_0_264"/>
          <p:cNvSpPr txBox="1">
            <a:spLocks noGrp="1"/>
          </p:cNvSpPr>
          <p:nvPr>
            <p:ph type="body" idx="1"/>
          </p:nvPr>
        </p:nvSpPr>
        <p:spPr>
          <a:xfrm>
            <a:off x="4572000" y="996625"/>
            <a:ext cx="4260300" cy="3354000"/>
          </a:xfrm>
          <a:prstGeom prst="rect">
            <a:avLst/>
          </a:prstGeom>
          <a:noFill/>
          <a:ln>
            <a:noFill/>
          </a:ln>
        </p:spPr>
        <p:txBody>
          <a:bodyPr spcFirstLastPara="1" wrap="square" lIns="91425" tIns="91425" rIns="91425" bIns="91425" anchor="t" anchorCtr="0">
            <a:noAutofit/>
          </a:bodyPr>
          <a:lstStyle/>
          <a:p>
            <a:pPr marL="457200" lvl="0" indent="0" algn="l" rtl="0">
              <a:spcBef>
                <a:spcPts val="1400"/>
              </a:spcBef>
              <a:spcAft>
                <a:spcPts val="0"/>
              </a:spcAft>
              <a:buNone/>
            </a:pPr>
            <a:r>
              <a:rPr lang="fr-FR" sz="1200" u="sng"/>
              <a:t>Règles : </a:t>
            </a:r>
            <a:endParaRPr sz="1200" u="sng"/>
          </a:p>
          <a:p>
            <a:pPr marL="457200" lvl="0" indent="-304800" algn="l" rtl="0">
              <a:lnSpc>
                <a:spcPct val="200000"/>
              </a:lnSpc>
              <a:spcBef>
                <a:spcPts val="1400"/>
              </a:spcBef>
              <a:spcAft>
                <a:spcPts val="0"/>
              </a:spcAft>
              <a:buSzPts val="1200"/>
              <a:buChar char="●"/>
            </a:pPr>
            <a:r>
              <a:rPr lang="fr-FR" sz="1200"/>
              <a:t>Courte et simple</a:t>
            </a:r>
            <a:endParaRPr sz="1200"/>
          </a:p>
          <a:p>
            <a:pPr marL="457200" lvl="0" indent="-304800" algn="l" rtl="0">
              <a:lnSpc>
                <a:spcPct val="200000"/>
              </a:lnSpc>
              <a:spcBef>
                <a:spcPts val="0"/>
              </a:spcBef>
              <a:spcAft>
                <a:spcPts val="0"/>
              </a:spcAft>
              <a:buSzPts val="1200"/>
              <a:buChar char="●"/>
            </a:pPr>
            <a:r>
              <a:rPr lang="fr-FR" sz="1200"/>
              <a:t>Comprise par tous</a:t>
            </a:r>
            <a:endParaRPr sz="1200"/>
          </a:p>
          <a:p>
            <a:pPr marL="457200" lvl="0" indent="-304800" algn="l" rtl="0">
              <a:lnSpc>
                <a:spcPct val="200000"/>
              </a:lnSpc>
              <a:spcBef>
                <a:spcPts val="0"/>
              </a:spcBef>
              <a:spcAft>
                <a:spcPts val="0"/>
              </a:spcAft>
              <a:buSzPts val="1200"/>
              <a:buChar char="●"/>
            </a:pPr>
            <a:r>
              <a:rPr lang="fr-FR" sz="1200"/>
              <a:t>Écrite du point de vue de l’utilisateur</a:t>
            </a:r>
            <a:endParaRPr sz="1200"/>
          </a:p>
          <a:p>
            <a:pPr marL="457200" lvl="0" indent="-304800" algn="l" rtl="0">
              <a:lnSpc>
                <a:spcPct val="200000"/>
              </a:lnSpc>
              <a:spcBef>
                <a:spcPts val="0"/>
              </a:spcBef>
              <a:spcAft>
                <a:spcPts val="0"/>
              </a:spcAft>
              <a:buSzPts val="1200"/>
              <a:buChar char="●"/>
            </a:pPr>
            <a:r>
              <a:rPr lang="fr-FR" sz="1200"/>
              <a:t>Porteuse d’un bénéfice claire et univoque</a:t>
            </a:r>
            <a:endParaRPr sz="1200"/>
          </a:p>
          <a:p>
            <a:pPr marL="457200" lvl="0" indent="-304800" algn="l" rtl="0">
              <a:lnSpc>
                <a:spcPct val="200000"/>
              </a:lnSpc>
              <a:spcBef>
                <a:spcPts val="0"/>
              </a:spcBef>
              <a:spcAft>
                <a:spcPts val="0"/>
              </a:spcAft>
              <a:buSzPts val="1200"/>
              <a:buChar char="●"/>
            </a:pPr>
            <a:r>
              <a:rPr lang="fr-FR" sz="1200"/>
              <a:t>Décrire une fonctionnalité et non une liste</a:t>
            </a:r>
            <a:endParaRPr sz="1200"/>
          </a:p>
          <a:p>
            <a:pPr marL="457200" lvl="0" indent="0" algn="l" rtl="0">
              <a:lnSpc>
                <a:spcPct val="115000"/>
              </a:lnSpc>
              <a:spcBef>
                <a:spcPts val="1400"/>
              </a:spcBef>
              <a:spcAft>
                <a:spcPts val="0"/>
              </a:spcAft>
              <a:buNone/>
            </a:pPr>
            <a:endParaRPr/>
          </a:p>
          <a:p>
            <a:pPr marL="91440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endParaRPr/>
          </a:p>
          <a:p>
            <a:pPr marL="457200" lvl="0" indent="0" algn="l" rtl="0">
              <a:lnSpc>
                <a:spcPct val="115000"/>
              </a:lnSpc>
              <a:spcBef>
                <a:spcPts val="0"/>
              </a:spcBef>
              <a:spcAft>
                <a:spcPts val="0"/>
              </a:spcAft>
              <a:buNone/>
            </a:pPr>
            <a:endParaRPr/>
          </a:p>
        </p:txBody>
      </p:sp>
      <p:sp>
        <p:nvSpPr>
          <p:cNvPr id="128" name="Google Shape;128;gbd6994efb2_0_2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34</a:t>
            </a:fld>
            <a:endParaRPr/>
          </a:p>
        </p:txBody>
      </p:sp>
      <p:pic>
        <p:nvPicPr>
          <p:cNvPr id="129" name="Google Shape;129;gbd6994efb2_0_264"/>
          <p:cNvPicPr preferRelativeResize="0"/>
          <p:nvPr/>
        </p:nvPicPr>
        <p:blipFill>
          <a:blip r:embed="rId3">
            <a:alphaModFix/>
          </a:blip>
          <a:stretch>
            <a:fillRect/>
          </a:stretch>
        </p:blipFill>
        <p:spPr>
          <a:xfrm>
            <a:off x="476575" y="1225225"/>
            <a:ext cx="3173950" cy="1415250"/>
          </a:xfrm>
          <a:prstGeom prst="rect">
            <a:avLst/>
          </a:prstGeom>
          <a:noFill/>
          <a:ln>
            <a:noFill/>
          </a:ln>
        </p:spPr>
      </p:pic>
      <p:sp>
        <p:nvSpPr>
          <p:cNvPr id="130" name="Google Shape;130;gbd6994efb2_0_264"/>
          <p:cNvSpPr txBox="1">
            <a:spLocks noGrp="1"/>
          </p:cNvSpPr>
          <p:nvPr>
            <p:ph type="body" idx="1"/>
          </p:nvPr>
        </p:nvSpPr>
        <p:spPr>
          <a:xfrm>
            <a:off x="476575" y="2544150"/>
            <a:ext cx="3244200" cy="1085100"/>
          </a:xfrm>
          <a:prstGeom prst="rect">
            <a:avLst/>
          </a:prstGeom>
          <a:noFill/>
          <a:ln>
            <a:noFill/>
          </a:ln>
        </p:spPr>
        <p:txBody>
          <a:bodyPr spcFirstLastPara="1" wrap="square" lIns="91425" tIns="91425" rIns="91425" bIns="91425" anchor="t" anchorCtr="0">
            <a:noAutofit/>
          </a:bodyPr>
          <a:lstStyle/>
          <a:p>
            <a:pPr marL="457200" lvl="0" indent="-304800" algn="l" rtl="0">
              <a:spcBef>
                <a:spcPts val="1400"/>
              </a:spcBef>
              <a:spcAft>
                <a:spcPts val="0"/>
              </a:spcAft>
              <a:buSzPts val="1200"/>
              <a:buAutoNum type="alphaUcParenBoth"/>
            </a:pPr>
            <a:r>
              <a:rPr lang="fr-FR" sz="1200"/>
              <a:t>Fonctionnalité</a:t>
            </a:r>
            <a:endParaRPr sz="1200"/>
          </a:p>
          <a:p>
            <a:pPr marL="457200" lvl="0" indent="-304800" algn="l" rtl="0">
              <a:spcBef>
                <a:spcPts val="0"/>
              </a:spcBef>
              <a:spcAft>
                <a:spcPts val="0"/>
              </a:spcAft>
              <a:buSzPts val="1200"/>
              <a:buAutoNum type="alphaUcParenBoth"/>
            </a:pPr>
            <a:r>
              <a:rPr lang="fr-FR" sz="1200"/>
              <a:t>Bénéfice de la fonctionnalité</a:t>
            </a:r>
            <a:endParaRPr sz="1200"/>
          </a:p>
          <a:p>
            <a:pPr marL="457200" lvl="0" indent="-304800" algn="l" rtl="0">
              <a:spcBef>
                <a:spcPts val="0"/>
              </a:spcBef>
              <a:spcAft>
                <a:spcPts val="0"/>
              </a:spcAft>
              <a:buSzPts val="1200"/>
              <a:buAutoNum type="alphaUcParenBoth"/>
            </a:pPr>
            <a:r>
              <a:rPr lang="fr-FR" sz="1200"/>
              <a:t>Type d’utilisateurs : persona ou rôle qui va en bénéficier</a:t>
            </a:r>
            <a:endParaRPr sz="1200"/>
          </a:p>
          <a:p>
            <a:pPr marL="457200" lvl="0" indent="0" algn="l" rtl="0">
              <a:lnSpc>
                <a:spcPct val="115000"/>
              </a:lnSpc>
              <a:spcBef>
                <a:spcPts val="1400"/>
              </a:spcBef>
              <a:spcAft>
                <a:spcPts val="0"/>
              </a:spcAft>
              <a:buNone/>
            </a:pPr>
            <a:endParaRPr sz="1200"/>
          </a:p>
          <a:p>
            <a:pPr marL="914400" lvl="0" indent="0" algn="l" rtl="0">
              <a:lnSpc>
                <a:spcPct val="115000"/>
              </a:lnSpc>
              <a:spcBef>
                <a:spcPts val="0"/>
              </a:spcBef>
              <a:spcAft>
                <a:spcPts val="0"/>
              </a:spcAft>
              <a:buNone/>
            </a:pPr>
            <a:endParaRPr sz="1200"/>
          </a:p>
          <a:p>
            <a:pPr marL="0" lvl="0" indent="0" algn="l" rtl="0">
              <a:lnSpc>
                <a:spcPct val="115000"/>
              </a:lnSpc>
              <a:spcBef>
                <a:spcPts val="0"/>
              </a:spcBef>
              <a:spcAft>
                <a:spcPts val="0"/>
              </a:spcAft>
              <a:buNone/>
            </a:pPr>
            <a:endParaRPr sz="1200"/>
          </a:p>
          <a:p>
            <a:pPr marL="457200" lvl="0" indent="0" algn="l" rtl="0">
              <a:lnSpc>
                <a:spcPct val="115000"/>
              </a:lnSpc>
              <a:spcBef>
                <a:spcPts val="0"/>
              </a:spcBef>
              <a:spcAft>
                <a:spcPts val="0"/>
              </a:spcAft>
              <a:buNone/>
            </a:pP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bd6994efb2_0_27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fr-FR"/>
              <a:t>Qu’inclut une user story ?</a:t>
            </a:r>
            <a:endParaRPr/>
          </a:p>
        </p:txBody>
      </p:sp>
      <p:sp>
        <p:nvSpPr>
          <p:cNvPr id="136" name="Google Shape;136;gbd6994efb2_0_2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35</a:t>
            </a:fld>
            <a:endParaRPr/>
          </a:p>
        </p:txBody>
      </p:sp>
      <p:sp>
        <p:nvSpPr>
          <p:cNvPr id="137" name="Google Shape;137;gbd6994efb2_0_274"/>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1400"/>
              </a:spcBef>
              <a:spcAft>
                <a:spcPts val="0"/>
              </a:spcAft>
              <a:buSzPts val="1800"/>
              <a:buChar char="●"/>
            </a:pPr>
            <a:r>
              <a:rPr lang="fr-FR"/>
              <a:t>Critères d'acceptation qui sont co-écrits par l’équipe lors de l’affinage (max 10 par US) </a:t>
            </a:r>
            <a:endParaRPr/>
          </a:p>
          <a:p>
            <a:pPr marL="457200" lvl="0" indent="-342900" algn="l" rtl="0">
              <a:lnSpc>
                <a:spcPct val="150000"/>
              </a:lnSpc>
              <a:spcBef>
                <a:spcPts val="0"/>
              </a:spcBef>
              <a:spcAft>
                <a:spcPts val="0"/>
              </a:spcAft>
              <a:buSzPts val="1800"/>
              <a:buChar char="●"/>
            </a:pPr>
            <a:r>
              <a:rPr lang="fr-FR"/>
              <a:t>Scénarios de test</a:t>
            </a:r>
            <a:endParaRPr/>
          </a:p>
          <a:p>
            <a:pPr marL="457200" lvl="0" indent="0" algn="l" rtl="0">
              <a:spcBef>
                <a:spcPts val="1400"/>
              </a:spcBef>
              <a:spcAft>
                <a:spcPts val="0"/>
              </a:spcAft>
              <a:buNone/>
            </a:pPr>
            <a:endParaRPr/>
          </a:p>
          <a:p>
            <a:pPr marL="457200" lvl="0" indent="0" algn="l" rtl="0">
              <a:lnSpc>
                <a:spcPct val="115000"/>
              </a:lnSpc>
              <a:spcBef>
                <a:spcPts val="1400"/>
              </a:spcBef>
              <a:spcAft>
                <a:spcPts val="0"/>
              </a:spcAft>
              <a:buNone/>
            </a:pPr>
            <a:endParaRPr/>
          </a:p>
          <a:p>
            <a:pPr marL="91440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endParaRPr/>
          </a:p>
          <a:p>
            <a:pPr marL="457200" lvl="0" indent="0" algn="l" rtl="0">
              <a:lnSpc>
                <a:spcPct val="115000"/>
              </a:lnSpc>
              <a:spcBef>
                <a:spcPts val="0"/>
              </a:spcBef>
              <a:spcAft>
                <a:spcPts val="0"/>
              </a:spcAft>
              <a:buNone/>
            </a:pPr>
            <a:endParaRPr/>
          </a:p>
        </p:txBody>
      </p:sp>
      <p:pic>
        <p:nvPicPr>
          <p:cNvPr id="138" name="Google Shape;138;gbd6994efb2_0_274"/>
          <p:cNvPicPr preferRelativeResize="0"/>
          <p:nvPr/>
        </p:nvPicPr>
        <p:blipFill>
          <a:blip r:embed="rId3">
            <a:alphaModFix/>
          </a:blip>
          <a:stretch>
            <a:fillRect/>
          </a:stretch>
        </p:blipFill>
        <p:spPr>
          <a:xfrm>
            <a:off x="852325" y="2699850"/>
            <a:ext cx="1393450" cy="1013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txBox="1">
            <a:spLocks noGrp="1"/>
          </p:cNvSpPr>
          <p:nvPr>
            <p:ph type="title"/>
          </p:nvPr>
        </p:nvSpPr>
        <p:spPr>
          <a:xfrm>
            <a:off x="311700" y="94699"/>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fr" dirty="0"/>
              <a:t>Exemple User Story</a:t>
            </a:r>
            <a:endParaRPr dirty="0"/>
          </a:p>
        </p:txBody>
      </p:sp>
      <p:sp>
        <p:nvSpPr>
          <p:cNvPr id="151" name="Google Shape;151;p21"/>
          <p:cNvSpPr txBox="1">
            <a:spLocks noGrp="1"/>
          </p:cNvSpPr>
          <p:nvPr>
            <p:ph type="body" idx="1"/>
          </p:nvPr>
        </p:nvSpPr>
        <p:spPr>
          <a:xfrm>
            <a:off x="369917" y="83180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b="1" dirty="0">
                <a:latin typeface="Nunito"/>
                <a:ea typeface="Nunito"/>
                <a:cs typeface="Nunito"/>
                <a:sym typeface="Nunito"/>
              </a:rPr>
              <a:t>User story 1 : </a:t>
            </a:r>
            <a:r>
              <a:rPr lang="fr" sz="1200" dirty="0">
                <a:latin typeface="Nunito"/>
                <a:ea typeface="Nunito"/>
                <a:cs typeface="Nunito"/>
                <a:sym typeface="Nunito"/>
              </a:rPr>
              <a:t>En tant qu’utilisateur je souhaite m’authentifier afin d’accéder au site</a:t>
            </a:r>
            <a:endParaRPr sz="1200" dirty="0">
              <a:latin typeface="Nunito"/>
              <a:ea typeface="Nunito"/>
              <a:cs typeface="Nunito"/>
              <a:sym typeface="Nunito"/>
            </a:endParaRPr>
          </a:p>
          <a:p>
            <a:pPr marL="0" lvl="0" indent="0" algn="l" rtl="0">
              <a:spcBef>
                <a:spcPts val="1600"/>
              </a:spcBef>
              <a:spcAft>
                <a:spcPts val="0"/>
              </a:spcAft>
              <a:buNone/>
            </a:pPr>
            <a:r>
              <a:rPr lang="fr" sz="1200" b="1" dirty="0">
                <a:latin typeface="Nunito"/>
                <a:ea typeface="Nunito"/>
                <a:cs typeface="Nunito"/>
                <a:sym typeface="Nunito"/>
              </a:rPr>
              <a:t>Description :</a:t>
            </a:r>
            <a:endParaRPr sz="1200" dirty="0">
              <a:latin typeface="Nunito"/>
              <a:ea typeface="Nunito"/>
              <a:cs typeface="Nunito"/>
              <a:sym typeface="Nunito"/>
            </a:endParaRPr>
          </a:p>
          <a:p>
            <a:pPr marL="457200" lvl="0" indent="-304800" algn="l" rtl="0">
              <a:spcBef>
                <a:spcPts val="1600"/>
              </a:spcBef>
              <a:spcAft>
                <a:spcPts val="0"/>
              </a:spcAft>
              <a:buSzPts val="1200"/>
              <a:buFont typeface="Nunito"/>
              <a:buChar char="●"/>
            </a:pPr>
            <a:r>
              <a:rPr lang="fr" sz="1200" dirty="0">
                <a:latin typeface="Nunito"/>
                <a:ea typeface="Nunito"/>
                <a:cs typeface="Nunito"/>
                <a:sym typeface="Nunito"/>
              </a:rPr>
              <a:t>A gauche dans encadré bleu canard : Texte d’introduction du site </a:t>
            </a:r>
            <a:endParaRPr sz="1200" dirty="0">
              <a:latin typeface="Nunito"/>
              <a:ea typeface="Nunito"/>
              <a:cs typeface="Nunito"/>
              <a:sym typeface="Nunito"/>
            </a:endParaRPr>
          </a:p>
          <a:p>
            <a:pPr marL="457200" lvl="0" indent="-304800" algn="l" rtl="0">
              <a:spcBef>
                <a:spcPts val="0"/>
              </a:spcBef>
              <a:spcAft>
                <a:spcPts val="0"/>
              </a:spcAft>
              <a:buSzPts val="1200"/>
              <a:buFont typeface="Nunito"/>
              <a:buChar char="●"/>
            </a:pPr>
            <a:r>
              <a:rPr lang="fr" sz="1200" dirty="0">
                <a:latin typeface="Nunito"/>
                <a:ea typeface="Nunito"/>
                <a:cs typeface="Nunito"/>
                <a:sym typeface="Nunito"/>
              </a:rPr>
              <a:t>Au milieu : Encadré avec informations à saisir Mail et mot de passe</a:t>
            </a:r>
            <a:endParaRPr sz="1200" dirty="0">
              <a:latin typeface="Nunito"/>
              <a:ea typeface="Nunito"/>
              <a:cs typeface="Nunito"/>
              <a:sym typeface="Nunito"/>
            </a:endParaRPr>
          </a:p>
          <a:p>
            <a:pPr marL="457200" lvl="0" indent="-304800" algn="l" rtl="0">
              <a:spcBef>
                <a:spcPts val="0"/>
              </a:spcBef>
              <a:spcAft>
                <a:spcPts val="0"/>
              </a:spcAft>
              <a:buSzPts val="1200"/>
              <a:buFont typeface="Nunito"/>
              <a:buChar char="●"/>
            </a:pPr>
            <a:r>
              <a:rPr lang="fr" sz="1200" dirty="0">
                <a:latin typeface="Nunito"/>
                <a:ea typeface="Nunito"/>
                <a:cs typeface="Nunito"/>
                <a:sym typeface="Nunito"/>
              </a:rPr>
              <a:t>Mot de passe oublié : Au clic, une pop in s'affiche demandant le mail de l'utilisateur + CTA "valider" / Ensuite réception d'un mail permettant de changer le mdp. </a:t>
            </a:r>
            <a:endParaRPr sz="1200" dirty="0">
              <a:latin typeface="Nunito"/>
              <a:ea typeface="Nunito"/>
              <a:cs typeface="Nunito"/>
              <a:sym typeface="Nunito"/>
            </a:endParaRPr>
          </a:p>
          <a:p>
            <a:pPr marL="457200" lvl="0" indent="-304800" algn="l" rtl="0">
              <a:spcBef>
                <a:spcPts val="0"/>
              </a:spcBef>
              <a:spcAft>
                <a:spcPts val="0"/>
              </a:spcAft>
              <a:buSzPts val="1200"/>
              <a:buFont typeface="Nunito"/>
              <a:buChar char="●"/>
            </a:pPr>
            <a:r>
              <a:rPr lang="fr" sz="1200" dirty="0">
                <a:latin typeface="Nunito"/>
                <a:ea typeface="Nunito"/>
                <a:cs typeface="Nunito"/>
                <a:sym typeface="Nunito"/>
              </a:rPr>
              <a:t>CTA "je m'identifie": Au clic, accès à la Home page de la plateforme</a:t>
            </a:r>
            <a:endParaRPr sz="1200" dirty="0">
              <a:latin typeface="Nunito"/>
              <a:ea typeface="Nunito"/>
              <a:cs typeface="Nunito"/>
              <a:sym typeface="Nunito"/>
            </a:endParaRPr>
          </a:p>
          <a:p>
            <a:pPr marL="0" lvl="0" indent="0" algn="l" rtl="0">
              <a:spcBef>
                <a:spcPts val="1600"/>
              </a:spcBef>
              <a:spcAft>
                <a:spcPts val="0"/>
              </a:spcAft>
              <a:buNone/>
            </a:pPr>
            <a:r>
              <a:rPr lang="fr" sz="1200" b="1" dirty="0">
                <a:latin typeface="Nunito"/>
                <a:ea typeface="Nunito"/>
                <a:cs typeface="Nunito"/>
                <a:sym typeface="Nunito"/>
              </a:rPr>
              <a:t>Critères d’acceptances: </a:t>
            </a:r>
            <a:endParaRPr sz="1200" b="1" dirty="0">
              <a:latin typeface="Nunito"/>
              <a:ea typeface="Nunito"/>
              <a:cs typeface="Nunito"/>
              <a:sym typeface="Nunito"/>
            </a:endParaRPr>
          </a:p>
          <a:p>
            <a:pPr marL="0" lvl="0" indent="0" algn="l" rtl="0">
              <a:spcBef>
                <a:spcPts val="1600"/>
              </a:spcBef>
              <a:spcAft>
                <a:spcPts val="0"/>
              </a:spcAft>
              <a:buNone/>
            </a:pPr>
            <a:endParaRPr sz="1200" dirty="0">
              <a:latin typeface="Nunito"/>
              <a:ea typeface="Nunito"/>
              <a:cs typeface="Nunito"/>
              <a:sym typeface="Nunito"/>
            </a:endParaRPr>
          </a:p>
          <a:p>
            <a:pPr marL="0" lvl="0" indent="0" algn="l" rtl="0">
              <a:spcBef>
                <a:spcPts val="1600"/>
              </a:spcBef>
              <a:spcAft>
                <a:spcPts val="1600"/>
              </a:spcAft>
              <a:buNone/>
            </a:pPr>
            <a:endParaRPr sz="1200" b="1" dirty="0">
              <a:latin typeface="Nunito"/>
              <a:ea typeface="Nunito"/>
              <a:cs typeface="Nunito"/>
              <a:sym typeface="Nunito"/>
            </a:endParaRPr>
          </a:p>
        </p:txBody>
      </p:sp>
      <p:graphicFrame>
        <p:nvGraphicFramePr>
          <p:cNvPr id="152" name="Google Shape;152;p21"/>
          <p:cNvGraphicFramePr/>
          <p:nvPr/>
        </p:nvGraphicFramePr>
        <p:xfrm>
          <a:off x="2361359" y="2960577"/>
          <a:ext cx="6280375" cy="1793125"/>
        </p:xfrm>
        <a:graphic>
          <a:graphicData uri="http://schemas.openxmlformats.org/drawingml/2006/table">
            <a:tbl>
              <a:tblPr>
                <a:noFill/>
              </a:tblPr>
              <a:tblGrid>
                <a:gridCol w="3076150">
                  <a:extLst>
                    <a:ext uri="{9D8B030D-6E8A-4147-A177-3AD203B41FA5}">
                      <a16:colId xmlns:a16="http://schemas.microsoft.com/office/drawing/2014/main" val="20000"/>
                    </a:ext>
                  </a:extLst>
                </a:gridCol>
                <a:gridCol w="3204225">
                  <a:extLst>
                    <a:ext uri="{9D8B030D-6E8A-4147-A177-3AD203B41FA5}">
                      <a16:colId xmlns:a16="http://schemas.microsoft.com/office/drawing/2014/main" val="20001"/>
                    </a:ext>
                  </a:extLst>
                </a:gridCol>
              </a:tblGrid>
              <a:tr h="1793125">
                <a:tc>
                  <a:txBody>
                    <a:bodyPr/>
                    <a:lstStyle/>
                    <a:p>
                      <a:pPr marL="0" lvl="0" indent="0" algn="l" rtl="0">
                        <a:lnSpc>
                          <a:spcPct val="115000"/>
                        </a:lnSpc>
                        <a:spcBef>
                          <a:spcPts val="0"/>
                        </a:spcBef>
                        <a:spcAft>
                          <a:spcPts val="0"/>
                        </a:spcAft>
                        <a:buClr>
                          <a:schemeClr val="dk1"/>
                        </a:buClr>
                        <a:buSzPts val="1100"/>
                        <a:buFont typeface="Arial"/>
                        <a:buNone/>
                      </a:pPr>
                      <a:r>
                        <a:rPr lang="fr" sz="1000" dirty="0">
                          <a:solidFill>
                            <a:schemeClr val="dk1"/>
                          </a:solidFill>
                          <a:latin typeface="Nunito"/>
                          <a:ea typeface="Nunito"/>
                          <a:cs typeface="Nunito"/>
                          <a:sym typeface="Nunito"/>
                        </a:rPr>
                        <a:t>ÉTANT DONNÉ QUE :  je renseigne les identifiants d'un user Super-Admin : test-admin@email.fr, Mot2Passe</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0"/>
                        </a:spcAft>
                        <a:buClr>
                          <a:schemeClr val="dk1"/>
                        </a:buClr>
                        <a:buSzPts val="1100"/>
                        <a:buFont typeface="Arial"/>
                        <a:buNone/>
                      </a:pPr>
                      <a:r>
                        <a:rPr lang="fr" sz="1000" dirty="0">
                          <a:solidFill>
                            <a:schemeClr val="dk1"/>
                          </a:solidFill>
                          <a:latin typeface="Nunito"/>
                          <a:ea typeface="Nunito"/>
                          <a:cs typeface="Nunito"/>
                          <a:sym typeface="Nunito"/>
                        </a:rPr>
                        <a:t> QUAND :  je soumets le formulaire d'authentification</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1600"/>
                        </a:spcAft>
                        <a:buClr>
                          <a:schemeClr val="dk1"/>
                        </a:buClr>
                        <a:buSzPts val="1100"/>
                        <a:buFont typeface="Arial"/>
                        <a:buNone/>
                      </a:pPr>
                      <a:r>
                        <a:rPr lang="fr" sz="1000" dirty="0">
                          <a:solidFill>
                            <a:schemeClr val="dk1"/>
                          </a:solidFill>
                          <a:latin typeface="Nunito"/>
                          <a:ea typeface="Nunito"/>
                          <a:cs typeface="Nunito"/>
                          <a:sym typeface="Nunito"/>
                        </a:rPr>
                        <a:t> ALORS : je suis authentifié</a:t>
                      </a:r>
                      <a:endParaRPr dirty="0">
                        <a:latin typeface="Nunito"/>
                        <a:ea typeface="Nunito"/>
                        <a:cs typeface="Nunito"/>
                        <a:sym typeface="Nunito"/>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fr" sz="1000" dirty="0">
                          <a:solidFill>
                            <a:schemeClr val="dk1"/>
                          </a:solidFill>
                          <a:latin typeface="Nunito"/>
                          <a:ea typeface="Nunito"/>
                          <a:cs typeface="Nunito"/>
                          <a:sym typeface="Nunito"/>
                        </a:rPr>
                        <a:t>ÉTANT DONNÉ QUE :  je renseigne mal les identifiants d'un user   : test@email.fr, Mot2Passe (soit un user inexistant)</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0"/>
                        </a:spcAft>
                        <a:buClr>
                          <a:schemeClr val="dk1"/>
                        </a:buClr>
                        <a:buSzPts val="1100"/>
                        <a:buFont typeface="Arial"/>
                        <a:buNone/>
                      </a:pPr>
                      <a:r>
                        <a:rPr lang="fr" sz="1000" dirty="0">
                          <a:solidFill>
                            <a:schemeClr val="dk1"/>
                          </a:solidFill>
                          <a:latin typeface="Nunito"/>
                          <a:ea typeface="Nunito"/>
                          <a:cs typeface="Nunito"/>
                          <a:sym typeface="Nunito"/>
                        </a:rPr>
                        <a:t>QUAND :  je soumets le formulaire d'authentification</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1600"/>
                        </a:spcAft>
                        <a:buClr>
                          <a:schemeClr val="dk1"/>
                        </a:buClr>
                        <a:buSzPts val="1100"/>
                        <a:buFont typeface="Arial"/>
                        <a:buNone/>
                      </a:pPr>
                      <a:r>
                        <a:rPr lang="fr" sz="1000" dirty="0">
                          <a:solidFill>
                            <a:schemeClr val="dk1"/>
                          </a:solidFill>
                          <a:latin typeface="Nunito"/>
                          <a:ea typeface="Nunito"/>
                          <a:cs typeface="Nunito"/>
                          <a:sym typeface="Nunito"/>
                        </a:rPr>
                        <a:t>ALORS :  l'authentification échoue</a:t>
                      </a:r>
                      <a:endParaRPr dirty="0">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bl>
          </a:graphicData>
        </a:graphic>
      </p:graphicFrame>
      <p:sp>
        <p:nvSpPr>
          <p:cNvPr id="154" name="Google Shape;15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t>36</a:t>
            </a:fld>
            <a:endParaRPr/>
          </a:p>
        </p:txBody>
      </p:sp>
    </p:spTree>
    <p:extLst>
      <p:ext uri="{BB962C8B-B14F-4D97-AF65-F5344CB8AC3E}">
        <p14:creationId xmlns:p14="http://schemas.microsoft.com/office/powerpoint/2010/main" val="1771321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2"/>
          <p:cNvSpPr txBox="1">
            <a:spLocks noGrp="1"/>
          </p:cNvSpPr>
          <p:nvPr>
            <p:ph type="title"/>
          </p:nvPr>
        </p:nvSpPr>
        <p:spPr>
          <a:xfrm>
            <a:off x="311700" y="1635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fr"/>
              <a:t>Exemple User Story</a:t>
            </a:r>
            <a:endParaRPr/>
          </a:p>
        </p:txBody>
      </p:sp>
      <p:sp>
        <p:nvSpPr>
          <p:cNvPr id="160" name="Google Shape;160;p22"/>
          <p:cNvSpPr txBox="1">
            <a:spLocks noGrp="1"/>
          </p:cNvSpPr>
          <p:nvPr>
            <p:ph type="body" idx="1"/>
          </p:nvPr>
        </p:nvSpPr>
        <p:spPr>
          <a:xfrm>
            <a:off x="384407" y="918622"/>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sz="1200" b="1" dirty="0">
                <a:latin typeface="Nunito"/>
                <a:ea typeface="Nunito"/>
                <a:cs typeface="Nunito"/>
                <a:sym typeface="Nunito"/>
              </a:rPr>
              <a:t>User story 2 : </a:t>
            </a:r>
            <a:r>
              <a:rPr lang="fr" sz="1200" dirty="0">
                <a:latin typeface="Nunito"/>
                <a:ea typeface="Nunito"/>
                <a:cs typeface="Nunito"/>
                <a:sym typeface="Nunito"/>
              </a:rPr>
              <a:t>En tant qu’utilisateur ayant perdu son mot de passe je souhaite avoir un nouveau mot de passe afin d’accéder au site</a:t>
            </a:r>
            <a:endParaRPr sz="1200" dirty="0">
              <a:latin typeface="Nunito"/>
              <a:ea typeface="Nunito"/>
              <a:cs typeface="Nunito"/>
              <a:sym typeface="Nunito"/>
            </a:endParaRPr>
          </a:p>
          <a:p>
            <a:pPr marL="0" lvl="0" indent="0" algn="l" rtl="0">
              <a:spcBef>
                <a:spcPts val="1600"/>
              </a:spcBef>
              <a:spcAft>
                <a:spcPts val="0"/>
              </a:spcAft>
              <a:buNone/>
            </a:pPr>
            <a:r>
              <a:rPr lang="fr-FR" sz="1200" b="1" dirty="0">
                <a:latin typeface="Nunito"/>
                <a:ea typeface="Nunito"/>
                <a:cs typeface="Nunito"/>
                <a:sym typeface="Nunito"/>
              </a:rPr>
              <a:t>Description :</a:t>
            </a:r>
            <a:endParaRPr lang="fr-FR" sz="1200" dirty="0">
              <a:latin typeface="Nunito"/>
              <a:ea typeface="Nunito"/>
              <a:cs typeface="Nunito"/>
              <a:sym typeface="Nunito"/>
            </a:endParaRPr>
          </a:p>
          <a:p>
            <a:pPr marL="457200" lvl="0" indent="-304800" algn="l" rtl="0">
              <a:spcBef>
                <a:spcPts val="1600"/>
              </a:spcBef>
              <a:spcAft>
                <a:spcPts val="0"/>
              </a:spcAft>
              <a:buSzPts val="1200"/>
              <a:buFont typeface="Nunito"/>
              <a:buChar char="●"/>
            </a:pPr>
            <a:r>
              <a:rPr lang="fr" sz="1200" dirty="0">
                <a:latin typeface="Nunito"/>
                <a:ea typeface="Nunito"/>
                <a:cs typeface="Nunito"/>
                <a:sym typeface="Nunito"/>
              </a:rPr>
              <a:t>Au clic sur "mot de passe oublié" , une pop in s'affiche demandant le mail de l'utilisateur + CTA "valider"</a:t>
            </a:r>
            <a:endParaRPr sz="1200" dirty="0">
              <a:latin typeface="Nunito"/>
              <a:ea typeface="Nunito"/>
              <a:cs typeface="Nunito"/>
              <a:sym typeface="Nunito"/>
            </a:endParaRPr>
          </a:p>
          <a:p>
            <a:pPr marL="457200" lvl="0" indent="-304800" algn="l" rtl="0">
              <a:spcBef>
                <a:spcPts val="0"/>
              </a:spcBef>
              <a:spcAft>
                <a:spcPts val="0"/>
              </a:spcAft>
              <a:buSzPts val="1200"/>
              <a:buFont typeface="Nunito"/>
              <a:buChar char="●"/>
            </a:pPr>
            <a:r>
              <a:rPr lang="fr" sz="1200" dirty="0">
                <a:latin typeface="Nunito"/>
                <a:ea typeface="Nunito"/>
                <a:cs typeface="Nunito"/>
                <a:sym typeface="Nunito"/>
              </a:rPr>
              <a:t>Ensuite réception d'un mail permettant de changer le mdp.</a:t>
            </a:r>
            <a:endParaRPr sz="1200" dirty="0">
              <a:latin typeface="Nunito"/>
              <a:ea typeface="Nunito"/>
              <a:cs typeface="Nunito"/>
              <a:sym typeface="Nunito"/>
            </a:endParaRPr>
          </a:p>
          <a:p>
            <a:pPr marL="0" lvl="0" indent="0" algn="l" rtl="0">
              <a:spcBef>
                <a:spcPts val="1600"/>
              </a:spcBef>
              <a:spcAft>
                <a:spcPts val="0"/>
              </a:spcAft>
              <a:buNone/>
            </a:pPr>
            <a:r>
              <a:rPr lang="fr" sz="1200" b="1" dirty="0">
                <a:latin typeface="Nunito"/>
                <a:ea typeface="Nunito"/>
                <a:cs typeface="Nunito"/>
                <a:sym typeface="Nunito"/>
              </a:rPr>
              <a:t> Critères d’acceptances: </a:t>
            </a:r>
            <a:endParaRPr sz="1200" b="1" dirty="0">
              <a:latin typeface="Nunito"/>
              <a:ea typeface="Nunito"/>
              <a:cs typeface="Nunito"/>
              <a:sym typeface="Nunito"/>
            </a:endParaRPr>
          </a:p>
          <a:p>
            <a:pPr marL="0" lvl="0" indent="0" algn="l" rtl="0">
              <a:spcBef>
                <a:spcPts val="1600"/>
              </a:spcBef>
              <a:spcAft>
                <a:spcPts val="1600"/>
              </a:spcAft>
              <a:buClr>
                <a:schemeClr val="dk1"/>
              </a:buClr>
              <a:buSzPts val="1100"/>
              <a:buFont typeface="Arial"/>
              <a:buNone/>
            </a:pPr>
            <a:endParaRPr sz="1200" b="1" dirty="0">
              <a:latin typeface="Nunito"/>
              <a:ea typeface="Nunito"/>
              <a:cs typeface="Nunito"/>
              <a:sym typeface="Nunito"/>
            </a:endParaRPr>
          </a:p>
        </p:txBody>
      </p:sp>
      <p:graphicFrame>
        <p:nvGraphicFramePr>
          <p:cNvPr id="161" name="Google Shape;161;p22"/>
          <p:cNvGraphicFramePr/>
          <p:nvPr/>
        </p:nvGraphicFramePr>
        <p:xfrm>
          <a:off x="2705100" y="2533650"/>
          <a:ext cx="4518325" cy="2473300"/>
        </p:xfrm>
        <a:graphic>
          <a:graphicData uri="http://schemas.openxmlformats.org/drawingml/2006/table">
            <a:tbl>
              <a:tblPr>
                <a:noFill/>
              </a:tblPr>
              <a:tblGrid>
                <a:gridCol w="2288275">
                  <a:extLst>
                    <a:ext uri="{9D8B030D-6E8A-4147-A177-3AD203B41FA5}">
                      <a16:colId xmlns:a16="http://schemas.microsoft.com/office/drawing/2014/main" val="20000"/>
                    </a:ext>
                  </a:extLst>
                </a:gridCol>
                <a:gridCol w="2230050">
                  <a:extLst>
                    <a:ext uri="{9D8B030D-6E8A-4147-A177-3AD203B41FA5}">
                      <a16:colId xmlns:a16="http://schemas.microsoft.com/office/drawing/2014/main" val="20001"/>
                    </a:ext>
                  </a:extLst>
                </a:gridCol>
              </a:tblGrid>
              <a:tr h="2473300">
                <a:tc>
                  <a:txBody>
                    <a:bodyPr/>
                    <a:lstStyle/>
                    <a:p>
                      <a:pPr marL="0" lvl="0" indent="0" algn="l" rtl="0">
                        <a:lnSpc>
                          <a:spcPct val="115000"/>
                        </a:lnSpc>
                        <a:spcBef>
                          <a:spcPts val="0"/>
                        </a:spcBef>
                        <a:spcAft>
                          <a:spcPts val="0"/>
                        </a:spcAft>
                        <a:buNone/>
                      </a:pPr>
                      <a:r>
                        <a:rPr lang="fr" sz="800" dirty="0">
                          <a:solidFill>
                            <a:schemeClr val="dk1"/>
                          </a:solidFill>
                          <a:latin typeface="Nunito"/>
                          <a:ea typeface="Nunito"/>
                          <a:cs typeface="Nunito"/>
                          <a:sym typeface="Nunito"/>
                        </a:rPr>
                        <a:t>ÉTANT DONNÉ QUE :  je renseigne un email utilisateur existant en base de données (et en mesure de réceptionner des emails : emma.kergo@gmail.com) </a:t>
                      </a:r>
                      <a:endParaRPr sz="800" dirty="0">
                        <a:solidFill>
                          <a:schemeClr val="dk1"/>
                        </a:solidFill>
                        <a:latin typeface="Nunito"/>
                        <a:ea typeface="Nunito"/>
                        <a:cs typeface="Nunito"/>
                        <a:sym typeface="Nunito"/>
                      </a:endParaRPr>
                    </a:p>
                    <a:p>
                      <a:pPr marL="0" lvl="0" indent="0" algn="l" rtl="0">
                        <a:lnSpc>
                          <a:spcPct val="115000"/>
                        </a:lnSpc>
                        <a:spcBef>
                          <a:spcPts val="1600"/>
                        </a:spcBef>
                        <a:spcAft>
                          <a:spcPts val="0"/>
                        </a:spcAft>
                        <a:buClr>
                          <a:schemeClr val="dk1"/>
                        </a:buClr>
                        <a:buSzPts val="1100"/>
                        <a:buFont typeface="Arial"/>
                        <a:buNone/>
                      </a:pPr>
                      <a:r>
                        <a:rPr lang="fr" sz="800" dirty="0">
                          <a:solidFill>
                            <a:schemeClr val="dk1"/>
                          </a:solidFill>
                          <a:latin typeface="Nunito"/>
                          <a:ea typeface="Nunito"/>
                          <a:cs typeface="Nunito"/>
                          <a:sym typeface="Nunito"/>
                        </a:rPr>
                        <a:t>QUAND :  je soumets le formulaire</a:t>
                      </a:r>
                      <a:endParaRPr sz="800" dirty="0">
                        <a:solidFill>
                          <a:schemeClr val="dk1"/>
                        </a:solidFill>
                        <a:latin typeface="Nunito"/>
                        <a:ea typeface="Nunito"/>
                        <a:cs typeface="Nunito"/>
                        <a:sym typeface="Nunito"/>
                      </a:endParaRPr>
                    </a:p>
                    <a:p>
                      <a:pPr marL="0" lvl="0" indent="0" algn="l" rtl="0">
                        <a:lnSpc>
                          <a:spcPct val="115000"/>
                        </a:lnSpc>
                        <a:spcBef>
                          <a:spcPts val="1600"/>
                        </a:spcBef>
                        <a:spcAft>
                          <a:spcPts val="0"/>
                        </a:spcAft>
                        <a:buClr>
                          <a:schemeClr val="dk1"/>
                        </a:buClr>
                        <a:buSzPts val="1100"/>
                        <a:buFont typeface="Arial"/>
                        <a:buNone/>
                      </a:pPr>
                      <a:r>
                        <a:rPr lang="fr" sz="800" dirty="0">
                          <a:solidFill>
                            <a:schemeClr val="dk1"/>
                          </a:solidFill>
                          <a:latin typeface="Nunito"/>
                          <a:ea typeface="Nunito"/>
                          <a:cs typeface="Nunito"/>
                          <a:sym typeface="Nunito"/>
                        </a:rPr>
                        <a:t> ALORS :  un message de confirmation s'affiche : "Un e-mail a été envoyé sur  emma.kergo@gmail.com pour vous permettre de réinitialiser votre mot de passe"</a:t>
                      </a:r>
                      <a:endParaRPr sz="800" dirty="0">
                        <a:solidFill>
                          <a:schemeClr val="dk1"/>
                        </a:solidFill>
                        <a:latin typeface="Nunito"/>
                        <a:ea typeface="Nunito"/>
                        <a:cs typeface="Nunito"/>
                        <a:sym typeface="Nunito"/>
                      </a:endParaRPr>
                    </a:p>
                    <a:p>
                      <a:pPr marL="0" lvl="0" indent="0" algn="l" rtl="0">
                        <a:lnSpc>
                          <a:spcPct val="115000"/>
                        </a:lnSpc>
                        <a:spcBef>
                          <a:spcPts val="1600"/>
                        </a:spcBef>
                        <a:spcAft>
                          <a:spcPts val="1600"/>
                        </a:spcAft>
                        <a:buClr>
                          <a:schemeClr val="dk1"/>
                        </a:buClr>
                        <a:buSzPts val="1100"/>
                        <a:buFont typeface="Arial"/>
                        <a:buNone/>
                      </a:pPr>
                      <a:r>
                        <a:rPr lang="fr" sz="800" dirty="0">
                          <a:solidFill>
                            <a:schemeClr val="dk1"/>
                          </a:solidFill>
                          <a:latin typeface="Nunito"/>
                          <a:ea typeface="Nunito"/>
                          <a:cs typeface="Nunito"/>
                          <a:sym typeface="Nunito"/>
                        </a:rPr>
                        <a:t> ET :  un email est réceptionné sur l'adresse email renseigné (ex : emma.kergo@gmail.com)</a:t>
                      </a:r>
                      <a:endParaRPr sz="800" dirty="0">
                        <a:latin typeface="Nunito"/>
                        <a:ea typeface="Nunito"/>
                        <a:cs typeface="Nunito"/>
                        <a:sym typeface="Nunito"/>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fr" sz="800" dirty="0">
                          <a:solidFill>
                            <a:schemeClr val="dk1"/>
                          </a:solidFill>
                          <a:latin typeface="Nunito"/>
                          <a:ea typeface="Nunito"/>
                          <a:cs typeface="Nunito"/>
                          <a:sym typeface="Nunito"/>
                        </a:rPr>
                        <a:t>ÉTANT DONNÉ QUE :  je renseigne un email utilisateur inexistant en base de données </a:t>
                      </a:r>
                      <a:endParaRPr sz="800" dirty="0">
                        <a:solidFill>
                          <a:schemeClr val="dk1"/>
                        </a:solidFill>
                        <a:latin typeface="Nunito"/>
                        <a:ea typeface="Nunito"/>
                        <a:cs typeface="Nunito"/>
                        <a:sym typeface="Nunito"/>
                      </a:endParaRPr>
                    </a:p>
                    <a:p>
                      <a:pPr marL="0" lvl="0" indent="0" algn="l" rtl="0">
                        <a:lnSpc>
                          <a:spcPct val="115000"/>
                        </a:lnSpc>
                        <a:spcBef>
                          <a:spcPts val="1600"/>
                        </a:spcBef>
                        <a:spcAft>
                          <a:spcPts val="0"/>
                        </a:spcAft>
                        <a:buClr>
                          <a:schemeClr val="dk1"/>
                        </a:buClr>
                        <a:buSzPts val="1100"/>
                        <a:buFont typeface="Arial"/>
                        <a:buNone/>
                      </a:pPr>
                      <a:r>
                        <a:rPr lang="fr" sz="800" dirty="0">
                          <a:solidFill>
                            <a:schemeClr val="dk1"/>
                          </a:solidFill>
                          <a:latin typeface="Nunito"/>
                          <a:ea typeface="Nunito"/>
                          <a:cs typeface="Nunito"/>
                          <a:sym typeface="Nunito"/>
                        </a:rPr>
                        <a:t> QUAND :  je soumets le formulaire</a:t>
                      </a:r>
                      <a:endParaRPr sz="800" dirty="0">
                        <a:solidFill>
                          <a:schemeClr val="dk1"/>
                        </a:solidFill>
                        <a:latin typeface="Nunito"/>
                        <a:ea typeface="Nunito"/>
                        <a:cs typeface="Nunito"/>
                        <a:sym typeface="Nunito"/>
                      </a:endParaRPr>
                    </a:p>
                    <a:p>
                      <a:pPr marL="0" lvl="0" indent="0" algn="l" rtl="0">
                        <a:lnSpc>
                          <a:spcPct val="115000"/>
                        </a:lnSpc>
                        <a:spcBef>
                          <a:spcPts val="1600"/>
                        </a:spcBef>
                        <a:spcAft>
                          <a:spcPts val="1600"/>
                        </a:spcAft>
                        <a:buClr>
                          <a:schemeClr val="dk1"/>
                        </a:buClr>
                        <a:buSzPts val="1100"/>
                        <a:buFont typeface="Arial"/>
                        <a:buNone/>
                      </a:pPr>
                      <a:r>
                        <a:rPr lang="fr" sz="800" dirty="0">
                          <a:solidFill>
                            <a:schemeClr val="dk1"/>
                          </a:solidFill>
                          <a:latin typeface="Nunito"/>
                          <a:ea typeface="Nunito"/>
                          <a:cs typeface="Nunito"/>
                          <a:sym typeface="Nunito"/>
                        </a:rPr>
                        <a:t> ALORS :  un message d'erreur s'affiche : "Cet e-mail ne correspond pas à un compte utilisateur</a:t>
                      </a:r>
                      <a:r>
                        <a:rPr lang="fr" sz="800" b="1" dirty="0">
                          <a:solidFill>
                            <a:schemeClr val="dk1"/>
                          </a:solidFill>
                          <a:latin typeface="Nunito"/>
                          <a:ea typeface="Nunito"/>
                          <a:cs typeface="Nunito"/>
                          <a:sym typeface="Nunito"/>
                        </a:rPr>
                        <a:t>"</a:t>
                      </a:r>
                      <a:endParaRPr sz="800" dirty="0">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bl>
          </a:graphicData>
        </a:graphic>
      </p:graphicFrame>
      <p:sp>
        <p:nvSpPr>
          <p:cNvPr id="163" name="Google Shape;16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t>37</a:t>
            </a:fld>
            <a:endParaRPr/>
          </a:p>
        </p:txBody>
      </p:sp>
    </p:spTree>
    <p:extLst>
      <p:ext uri="{BB962C8B-B14F-4D97-AF65-F5344CB8AC3E}">
        <p14:creationId xmlns:p14="http://schemas.microsoft.com/office/powerpoint/2010/main" val="84006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311700" y="1635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fr" dirty="0"/>
              <a:t>Exemple User Story</a:t>
            </a:r>
            <a:endParaRPr dirty="0"/>
          </a:p>
        </p:txBody>
      </p:sp>
      <p:sp>
        <p:nvSpPr>
          <p:cNvPr id="169" name="Google Shape;169;p23"/>
          <p:cNvSpPr txBox="1">
            <a:spLocks noGrp="1"/>
          </p:cNvSpPr>
          <p:nvPr>
            <p:ph type="body" idx="1"/>
          </p:nvPr>
        </p:nvSpPr>
        <p:spPr>
          <a:xfrm>
            <a:off x="372375" y="9948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b="1" dirty="0">
                <a:latin typeface="Nunito"/>
                <a:ea typeface="Nunito"/>
                <a:cs typeface="Nunito"/>
                <a:sym typeface="Nunito"/>
              </a:rPr>
              <a:t>User story 3 : </a:t>
            </a:r>
            <a:r>
              <a:rPr lang="fr" sz="1200" dirty="0">
                <a:latin typeface="Nunito"/>
                <a:ea typeface="Nunito"/>
                <a:cs typeface="Nunito"/>
                <a:sym typeface="Nunito"/>
              </a:rPr>
              <a:t>En tant qu’utilisateur je souhaite me déconnecter afin de ne plus avoir ma session active</a:t>
            </a:r>
            <a:endParaRPr sz="1200" dirty="0">
              <a:latin typeface="Nunito"/>
              <a:ea typeface="Nunito"/>
              <a:cs typeface="Nunito"/>
              <a:sym typeface="Nunito"/>
            </a:endParaRPr>
          </a:p>
          <a:p>
            <a:pPr marL="0" lvl="0" indent="0" algn="l" rtl="0">
              <a:spcBef>
                <a:spcPts val="1600"/>
              </a:spcBef>
              <a:spcAft>
                <a:spcPts val="0"/>
              </a:spcAft>
              <a:buNone/>
            </a:pPr>
            <a:r>
              <a:rPr lang="fr-FR" sz="1200" b="1" dirty="0">
                <a:latin typeface="Nunito"/>
                <a:ea typeface="Nunito"/>
                <a:cs typeface="Nunito"/>
                <a:sym typeface="Nunito"/>
              </a:rPr>
              <a:t>Description :</a:t>
            </a:r>
            <a:endParaRPr lang="fr-FR" sz="1200" dirty="0">
              <a:latin typeface="Nunito"/>
              <a:ea typeface="Nunito"/>
              <a:cs typeface="Nunito"/>
              <a:sym typeface="Nunito"/>
            </a:endParaRPr>
          </a:p>
          <a:p>
            <a:pPr marL="457200" lvl="0" indent="-304800" algn="l" rtl="0">
              <a:spcBef>
                <a:spcPts val="1600"/>
              </a:spcBef>
              <a:spcAft>
                <a:spcPts val="0"/>
              </a:spcAft>
              <a:buSzPts val="1200"/>
              <a:buFont typeface="Nunito"/>
              <a:buChar char="●"/>
            </a:pPr>
            <a:r>
              <a:rPr lang="fr" sz="1200" dirty="0">
                <a:latin typeface="Nunito"/>
                <a:ea typeface="Nunito"/>
                <a:cs typeface="Nunito"/>
                <a:sym typeface="Nunito"/>
              </a:rPr>
              <a:t>Depuis le menu une icône de déconnexion permets de se déconnecter</a:t>
            </a:r>
            <a:endParaRPr sz="1200" dirty="0">
              <a:latin typeface="Nunito"/>
              <a:ea typeface="Nunito"/>
              <a:cs typeface="Nunito"/>
              <a:sym typeface="Nunito"/>
            </a:endParaRPr>
          </a:p>
          <a:p>
            <a:pPr marL="457200" lvl="0" indent="-304800" algn="l" rtl="0">
              <a:spcBef>
                <a:spcPts val="0"/>
              </a:spcBef>
              <a:spcAft>
                <a:spcPts val="0"/>
              </a:spcAft>
              <a:buSzPts val="1200"/>
              <a:buFont typeface="Nunito"/>
              <a:buChar char="●"/>
            </a:pPr>
            <a:r>
              <a:rPr lang="fr" sz="1200" dirty="0">
                <a:latin typeface="Nunito"/>
                <a:ea typeface="Nunito"/>
                <a:cs typeface="Nunito"/>
                <a:sym typeface="Nunito"/>
              </a:rPr>
              <a:t>Après déconnexion le user est systématiquement redirigé sur la page de login, toutes les autres pages du site doivent être inaccessibles</a:t>
            </a:r>
            <a:endParaRPr sz="1200" dirty="0">
              <a:latin typeface="Nunito"/>
              <a:ea typeface="Nunito"/>
              <a:cs typeface="Nunito"/>
              <a:sym typeface="Nunito"/>
            </a:endParaRPr>
          </a:p>
          <a:p>
            <a:pPr marL="0" lvl="0" indent="0" algn="l" rtl="0">
              <a:spcBef>
                <a:spcPts val="1600"/>
              </a:spcBef>
              <a:spcAft>
                <a:spcPts val="0"/>
              </a:spcAft>
              <a:buNone/>
            </a:pPr>
            <a:r>
              <a:rPr lang="fr" sz="1200" b="1" dirty="0">
                <a:latin typeface="Nunito"/>
                <a:ea typeface="Nunito"/>
                <a:cs typeface="Nunito"/>
                <a:sym typeface="Nunito"/>
              </a:rPr>
              <a:t> Critères d’acceptances: </a:t>
            </a:r>
            <a:endParaRPr sz="1200" b="1" dirty="0">
              <a:latin typeface="Nunito"/>
              <a:ea typeface="Nunito"/>
              <a:cs typeface="Nunito"/>
              <a:sym typeface="Nunito"/>
            </a:endParaRPr>
          </a:p>
          <a:p>
            <a:pPr marL="0" lvl="0" indent="0" algn="l" rtl="0">
              <a:spcBef>
                <a:spcPts val="1600"/>
              </a:spcBef>
              <a:spcAft>
                <a:spcPts val="0"/>
              </a:spcAft>
              <a:buNone/>
            </a:pPr>
            <a:endParaRPr sz="1200" b="1" dirty="0">
              <a:latin typeface="Nunito"/>
              <a:ea typeface="Nunito"/>
              <a:cs typeface="Nunito"/>
              <a:sym typeface="Nunito"/>
            </a:endParaRPr>
          </a:p>
          <a:p>
            <a:pPr marL="0" lvl="0" indent="0" algn="l" rtl="0">
              <a:spcBef>
                <a:spcPts val="1600"/>
              </a:spcBef>
              <a:spcAft>
                <a:spcPts val="1600"/>
              </a:spcAft>
              <a:buNone/>
            </a:pPr>
            <a:endParaRPr sz="1200" dirty="0">
              <a:latin typeface="Nunito"/>
              <a:ea typeface="Nunito"/>
              <a:cs typeface="Nunito"/>
              <a:sym typeface="Nunito"/>
            </a:endParaRPr>
          </a:p>
        </p:txBody>
      </p:sp>
      <p:graphicFrame>
        <p:nvGraphicFramePr>
          <p:cNvPr id="170" name="Google Shape;170;p23"/>
          <p:cNvGraphicFramePr/>
          <p:nvPr/>
        </p:nvGraphicFramePr>
        <p:xfrm>
          <a:off x="952500" y="3143250"/>
          <a:ext cx="7239000" cy="1284575"/>
        </p:xfrm>
        <a:graphic>
          <a:graphicData uri="http://schemas.openxmlformats.org/drawingml/2006/table">
            <a:tbl>
              <a:tblPr>
                <a:noFil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lnSpc>
                          <a:spcPct val="115000"/>
                        </a:lnSpc>
                        <a:spcBef>
                          <a:spcPts val="0"/>
                        </a:spcBef>
                        <a:spcAft>
                          <a:spcPts val="0"/>
                        </a:spcAft>
                        <a:buNone/>
                      </a:pPr>
                      <a:r>
                        <a:rPr lang="fr" sz="1000" dirty="0">
                          <a:solidFill>
                            <a:schemeClr val="dk1"/>
                          </a:solidFill>
                          <a:latin typeface="Nunito"/>
                          <a:ea typeface="Nunito"/>
                          <a:cs typeface="Nunito"/>
                          <a:sym typeface="Nunito"/>
                        </a:rPr>
                        <a:t>ÉTANT DONNÉ QUE :  je suis authentifié</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0"/>
                        </a:spcAft>
                        <a:buNone/>
                      </a:pPr>
                      <a:r>
                        <a:rPr lang="fr" sz="1000" dirty="0">
                          <a:solidFill>
                            <a:schemeClr val="dk1"/>
                          </a:solidFill>
                          <a:latin typeface="Nunito"/>
                          <a:ea typeface="Nunito"/>
                          <a:cs typeface="Nunito"/>
                          <a:sym typeface="Nunito"/>
                        </a:rPr>
                        <a:t>QUAND :  je clique sur l'icône de déconnexion</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1600"/>
                        </a:spcAft>
                        <a:buNone/>
                      </a:pPr>
                      <a:r>
                        <a:rPr lang="fr" sz="1000" dirty="0">
                          <a:solidFill>
                            <a:schemeClr val="dk1"/>
                          </a:solidFill>
                          <a:latin typeface="Nunito"/>
                          <a:ea typeface="Nunito"/>
                          <a:cs typeface="Nunito"/>
                          <a:sym typeface="Nunito"/>
                        </a:rPr>
                        <a:t>ALORS :  je suis redirigé vers le login</a:t>
                      </a:r>
                      <a:endParaRPr sz="1000" dirty="0">
                        <a:latin typeface="Nunito"/>
                        <a:ea typeface="Nunito"/>
                        <a:cs typeface="Nunito"/>
                        <a:sym typeface="Nunito"/>
                      </a:endParaRPr>
                    </a:p>
                  </a:txBody>
                  <a:tcPr marL="91425" marR="91425" marT="91425" marB="91425"/>
                </a:tc>
                <a:tc>
                  <a:txBody>
                    <a:bodyPr/>
                    <a:lstStyle/>
                    <a:p>
                      <a:pPr marL="0" lvl="0" indent="0" algn="l" rtl="0">
                        <a:lnSpc>
                          <a:spcPct val="115000"/>
                        </a:lnSpc>
                        <a:spcBef>
                          <a:spcPts val="0"/>
                        </a:spcBef>
                        <a:spcAft>
                          <a:spcPts val="0"/>
                        </a:spcAft>
                        <a:buNone/>
                      </a:pPr>
                      <a:r>
                        <a:rPr lang="fr" sz="1000" dirty="0">
                          <a:solidFill>
                            <a:schemeClr val="dk1"/>
                          </a:solidFill>
                          <a:latin typeface="Nunito"/>
                          <a:ea typeface="Nunito"/>
                          <a:cs typeface="Nunito"/>
                          <a:sym typeface="Nunito"/>
                        </a:rPr>
                        <a:t>ÉTANT DONNÉ QUE :  je ne suis pas authentifié</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0"/>
                        </a:spcAft>
                        <a:buNone/>
                      </a:pPr>
                      <a:r>
                        <a:rPr lang="fr" sz="1000" dirty="0">
                          <a:solidFill>
                            <a:schemeClr val="dk1"/>
                          </a:solidFill>
                          <a:latin typeface="Nunito"/>
                          <a:ea typeface="Nunito"/>
                          <a:cs typeface="Nunito"/>
                          <a:sym typeface="Nunito"/>
                        </a:rPr>
                        <a:t>QUAND :  je charge une url d'une page du site exemple : /accueil</a:t>
                      </a:r>
                      <a:endParaRPr sz="1000" dirty="0">
                        <a:solidFill>
                          <a:schemeClr val="dk1"/>
                        </a:solidFill>
                        <a:latin typeface="Nunito"/>
                        <a:ea typeface="Nunito"/>
                        <a:cs typeface="Nunito"/>
                        <a:sym typeface="Nunito"/>
                      </a:endParaRPr>
                    </a:p>
                    <a:p>
                      <a:pPr marL="0" lvl="0" indent="0" algn="l" rtl="0">
                        <a:lnSpc>
                          <a:spcPct val="115000"/>
                        </a:lnSpc>
                        <a:spcBef>
                          <a:spcPts val="1600"/>
                        </a:spcBef>
                        <a:spcAft>
                          <a:spcPts val="1600"/>
                        </a:spcAft>
                        <a:buNone/>
                      </a:pPr>
                      <a:r>
                        <a:rPr lang="fr" sz="1000" dirty="0">
                          <a:solidFill>
                            <a:schemeClr val="dk1"/>
                          </a:solidFill>
                          <a:latin typeface="Nunito"/>
                          <a:ea typeface="Nunito"/>
                          <a:cs typeface="Nunito"/>
                          <a:sym typeface="Nunito"/>
                        </a:rPr>
                        <a:t>ALORS :  je suis redirigé vers le login</a:t>
                      </a:r>
                      <a:endParaRPr sz="1000" dirty="0">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bl>
          </a:graphicData>
        </a:graphic>
      </p:graphicFrame>
      <p:sp>
        <p:nvSpPr>
          <p:cNvPr id="172" name="Google Shape;17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t>38</a:t>
            </a:fld>
            <a:endParaRPr/>
          </a:p>
        </p:txBody>
      </p:sp>
    </p:spTree>
    <p:extLst>
      <p:ext uri="{BB962C8B-B14F-4D97-AF65-F5344CB8AC3E}">
        <p14:creationId xmlns:p14="http://schemas.microsoft.com/office/powerpoint/2010/main" val="3492776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E740D-87BC-4D4C-9872-463DC1D189BB}"/>
              </a:ext>
            </a:extLst>
          </p:cNvPr>
          <p:cNvSpPr>
            <a:spLocks noGrp="1"/>
          </p:cNvSpPr>
          <p:nvPr>
            <p:ph type="title"/>
          </p:nvPr>
        </p:nvSpPr>
        <p:spPr>
          <a:xfrm>
            <a:off x="27785" y="0"/>
            <a:ext cx="8520600" cy="831300"/>
          </a:xfrm>
        </p:spPr>
        <p:txBody>
          <a:bodyPr/>
          <a:lstStyle/>
          <a:p>
            <a:r>
              <a:rPr lang="fr-FR" dirty="0"/>
              <a:t>Exemple Trello (1/2)</a:t>
            </a:r>
          </a:p>
        </p:txBody>
      </p:sp>
      <p:sp>
        <p:nvSpPr>
          <p:cNvPr id="4" name="Espace réservé du numéro de diapositive 3">
            <a:extLst>
              <a:ext uri="{FF2B5EF4-FFF2-40B4-BE49-F238E27FC236}">
                <a16:creationId xmlns:a16="http://schemas.microsoft.com/office/drawing/2014/main" id="{2C6F5826-C357-4830-B294-45690DD0F9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39</a:t>
            </a:fld>
            <a:endParaRPr lang="fr-FR"/>
          </a:p>
        </p:txBody>
      </p:sp>
      <p:pic>
        <p:nvPicPr>
          <p:cNvPr id="6" name="Image 5">
            <a:extLst>
              <a:ext uri="{FF2B5EF4-FFF2-40B4-BE49-F238E27FC236}">
                <a16:creationId xmlns:a16="http://schemas.microsoft.com/office/drawing/2014/main" id="{27BA8E37-1D59-49BA-8A83-AA99F9D42B64}"/>
              </a:ext>
            </a:extLst>
          </p:cNvPr>
          <p:cNvPicPr>
            <a:picLocks noChangeAspect="1"/>
          </p:cNvPicPr>
          <p:nvPr/>
        </p:nvPicPr>
        <p:blipFill>
          <a:blip r:embed="rId2"/>
          <a:stretch>
            <a:fillRect/>
          </a:stretch>
        </p:blipFill>
        <p:spPr>
          <a:xfrm>
            <a:off x="122842" y="744907"/>
            <a:ext cx="8425543" cy="4235709"/>
          </a:xfrm>
          <a:prstGeom prst="rect">
            <a:avLst/>
          </a:prstGeom>
        </p:spPr>
      </p:pic>
    </p:spTree>
    <p:extLst>
      <p:ext uri="{BB962C8B-B14F-4D97-AF65-F5344CB8AC3E}">
        <p14:creationId xmlns:p14="http://schemas.microsoft.com/office/powerpoint/2010/main" val="604088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664164-0300-489D-8D76-5A12AC4428CE}"/>
              </a:ext>
            </a:extLst>
          </p:cNvPr>
          <p:cNvSpPr>
            <a:spLocks noGrp="1"/>
          </p:cNvSpPr>
          <p:nvPr>
            <p:ph type="title"/>
          </p:nvPr>
        </p:nvSpPr>
        <p:spPr/>
        <p:txBody>
          <a:bodyPr/>
          <a:lstStyle/>
          <a:p>
            <a:r>
              <a:rPr lang="fr-FR" dirty="0"/>
              <a:t>Exemple Trello (2/2) </a:t>
            </a:r>
          </a:p>
        </p:txBody>
      </p:sp>
      <p:sp>
        <p:nvSpPr>
          <p:cNvPr id="4" name="Espace réservé du numéro de diapositive 3">
            <a:extLst>
              <a:ext uri="{FF2B5EF4-FFF2-40B4-BE49-F238E27FC236}">
                <a16:creationId xmlns:a16="http://schemas.microsoft.com/office/drawing/2014/main" id="{FB85E13A-E25A-4A45-BDF7-6FA0359EF5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40</a:t>
            </a:fld>
            <a:endParaRPr lang="fr-FR"/>
          </a:p>
        </p:txBody>
      </p:sp>
      <p:pic>
        <p:nvPicPr>
          <p:cNvPr id="6" name="Image 5">
            <a:extLst>
              <a:ext uri="{FF2B5EF4-FFF2-40B4-BE49-F238E27FC236}">
                <a16:creationId xmlns:a16="http://schemas.microsoft.com/office/drawing/2014/main" id="{7274F643-C180-4904-A52B-A75B183E3DA9}"/>
              </a:ext>
            </a:extLst>
          </p:cNvPr>
          <p:cNvPicPr>
            <a:picLocks noChangeAspect="1"/>
          </p:cNvPicPr>
          <p:nvPr/>
        </p:nvPicPr>
        <p:blipFill>
          <a:blip r:embed="rId2"/>
          <a:stretch>
            <a:fillRect/>
          </a:stretch>
        </p:blipFill>
        <p:spPr>
          <a:xfrm>
            <a:off x="2725019" y="1223589"/>
            <a:ext cx="2983685" cy="3761014"/>
          </a:xfrm>
          <a:prstGeom prst="rect">
            <a:avLst/>
          </a:prstGeom>
        </p:spPr>
      </p:pic>
    </p:spTree>
    <p:extLst>
      <p:ext uri="{BB962C8B-B14F-4D97-AF65-F5344CB8AC3E}">
        <p14:creationId xmlns:p14="http://schemas.microsoft.com/office/powerpoint/2010/main" val="2844148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06BB47-0203-0BAD-6446-A0041DF96D08}"/>
              </a:ext>
            </a:extLst>
          </p:cNvPr>
          <p:cNvSpPr>
            <a:spLocks noGrp="1"/>
          </p:cNvSpPr>
          <p:nvPr>
            <p:ph type="title"/>
          </p:nvPr>
        </p:nvSpPr>
        <p:spPr/>
        <p:txBody>
          <a:bodyPr/>
          <a:lstStyle/>
          <a:p>
            <a:r>
              <a:rPr lang="fr-FR" dirty="0"/>
              <a:t>Exemple Notion (1/1)</a:t>
            </a:r>
          </a:p>
        </p:txBody>
      </p:sp>
      <p:sp>
        <p:nvSpPr>
          <p:cNvPr id="3" name="Espace réservé du texte 2">
            <a:extLst>
              <a:ext uri="{FF2B5EF4-FFF2-40B4-BE49-F238E27FC236}">
                <a16:creationId xmlns:a16="http://schemas.microsoft.com/office/drawing/2014/main" id="{9AA26293-2F8F-ADBC-3A40-F11BCD6195CB}"/>
              </a:ext>
            </a:extLst>
          </p:cNvPr>
          <p:cNvSpPr>
            <a:spLocks noGrp="1"/>
          </p:cNvSpPr>
          <p:nvPr>
            <p:ph type="body" idx="1"/>
          </p:nvPr>
        </p:nvSpPr>
        <p:spPr/>
        <p:txBody>
          <a:bodyPr/>
          <a:lstStyle/>
          <a:p>
            <a:r>
              <a:rPr lang="fr-FR" dirty="0"/>
              <a:t>Notion</a:t>
            </a:r>
          </a:p>
          <a:p>
            <a:endParaRPr lang="fr-FR" dirty="0"/>
          </a:p>
          <a:p>
            <a:pPr marL="114300" indent="0">
              <a:buNone/>
            </a:pPr>
            <a:endParaRPr lang="fr-FR" dirty="0"/>
          </a:p>
          <a:p>
            <a:pPr marL="114300" indent="0">
              <a:buNone/>
            </a:pPr>
            <a:endParaRPr lang="fr-FR" dirty="0"/>
          </a:p>
          <a:p>
            <a:pPr marL="114300" indent="0">
              <a:buNone/>
            </a:pPr>
            <a:endParaRPr lang="fr-FR" dirty="0"/>
          </a:p>
          <a:p>
            <a:pPr marL="114300" indent="0">
              <a:buNone/>
            </a:pPr>
            <a:endParaRPr lang="fr-FR" dirty="0"/>
          </a:p>
          <a:p>
            <a:pPr marL="114300" indent="0">
              <a:buNone/>
            </a:pPr>
            <a:endParaRPr lang="fr-FR" dirty="0"/>
          </a:p>
          <a:p>
            <a:pPr marL="114300" indent="0">
              <a:buNone/>
            </a:pPr>
            <a:endParaRPr lang="fr-FR" dirty="0"/>
          </a:p>
          <a:p>
            <a:pPr marL="114300" indent="0">
              <a:buNone/>
            </a:pPr>
            <a:endParaRPr lang="fr-FR" dirty="0">
              <a:hlinkClick r:id="rId2"/>
            </a:endParaRPr>
          </a:p>
          <a:p>
            <a:pPr marL="114300" indent="0">
              <a:buNone/>
            </a:pPr>
            <a:endParaRPr lang="fr-FR" dirty="0">
              <a:hlinkClick r:id="rId2"/>
            </a:endParaRPr>
          </a:p>
          <a:p>
            <a:pPr marL="114300" indent="0">
              <a:buNone/>
            </a:pPr>
            <a:r>
              <a:rPr lang="fr-FR" dirty="0">
                <a:hlinkClick r:id="rId2"/>
              </a:rPr>
              <a:t>https://www.youtube.com/watch?v=4uJaZrtJqKk</a:t>
            </a:r>
            <a:r>
              <a:rPr lang="fr-FR" dirty="0"/>
              <a:t> </a:t>
            </a:r>
          </a:p>
        </p:txBody>
      </p:sp>
      <p:sp>
        <p:nvSpPr>
          <p:cNvPr id="4" name="Espace réservé du numéro de diapositive 3">
            <a:extLst>
              <a:ext uri="{FF2B5EF4-FFF2-40B4-BE49-F238E27FC236}">
                <a16:creationId xmlns:a16="http://schemas.microsoft.com/office/drawing/2014/main" id="{672C0887-E8BF-8CB2-8F09-67A6E89B64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41</a:t>
            </a:fld>
            <a:endParaRPr lang="fr-FR"/>
          </a:p>
        </p:txBody>
      </p:sp>
      <p:pic>
        <p:nvPicPr>
          <p:cNvPr id="5" name="Image 4">
            <a:extLst>
              <a:ext uri="{FF2B5EF4-FFF2-40B4-BE49-F238E27FC236}">
                <a16:creationId xmlns:a16="http://schemas.microsoft.com/office/drawing/2014/main" id="{95E39FE9-8D20-07C0-9E99-6A4CB4BEE779}"/>
              </a:ext>
            </a:extLst>
          </p:cNvPr>
          <p:cNvPicPr>
            <a:picLocks noChangeAspect="1"/>
          </p:cNvPicPr>
          <p:nvPr/>
        </p:nvPicPr>
        <p:blipFill>
          <a:blip r:embed="rId3"/>
          <a:stretch>
            <a:fillRect/>
          </a:stretch>
        </p:blipFill>
        <p:spPr>
          <a:xfrm>
            <a:off x="1773766" y="1141233"/>
            <a:ext cx="5596467" cy="3314615"/>
          </a:xfrm>
          <a:prstGeom prst="rect">
            <a:avLst/>
          </a:prstGeom>
        </p:spPr>
      </p:pic>
    </p:spTree>
    <p:extLst>
      <p:ext uri="{BB962C8B-B14F-4D97-AF65-F5344CB8AC3E}">
        <p14:creationId xmlns:p14="http://schemas.microsoft.com/office/powerpoint/2010/main" val="16918486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959B3-FE41-D9E2-5C00-2F7D5A0A5D2A}"/>
              </a:ext>
            </a:extLst>
          </p:cNvPr>
          <p:cNvSpPr>
            <a:spLocks noGrp="1"/>
          </p:cNvSpPr>
          <p:nvPr>
            <p:ph type="title"/>
          </p:nvPr>
        </p:nvSpPr>
        <p:spPr/>
        <p:txBody>
          <a:bodyPr/>
          <a:lstStyle/>
          <a:p>
            <a:r>
              <a:rPr lang="fr-FR" sz="3200" dirty="0">
                <a:latin typeface="Nunito" pitchFamily="2" charset="77"/>
              </a:rPr>
              <a:t>13</a:t>
            </a:r>
            <a:r>
              <a:rPr lang="fr-FR" sz="3200" baseline="30000" dirty="0">
                <a:latin typeface="Nunito" pitchFamily="2" charset="77"/>
              </a:rPr>
              <a:t>ième</a:t>
            </a:r>
            <a:r>
              <a:rPr lang="fr-FR" sz="3200" dirty="0">
                <a:latin typeface="Nunito" pitchFamily="2" charset="77"/>
              </a:rPr>
              <a:t> étape : Planning détaillé </a:t>
            </a:r>
          </a:p>
        </p:txBody>
      </p:sp>
      <p:sp>
        <p:nvSpPr>
          <p:cNvPr id="3" name="Espace réservé du texte 2">
            <a:extLst>
              <a:ext uri="{FF2B5EF4-FFF2-40B4-BE49-F238E27FC236}">
                <a16:creationId xmlns:a16="http://schemas.microsoft.com/office/drawing/2014/main" id="{67EA015B-568B-312A-5623-401472C5C57B}"/>
              </a:ext>
            </a:extLst>
          </p:cNvPr>
          <p:cNvSpPr>
            <a:spLocks noGrp="1"/>
          </p:cNvSpPr>
          <p:nvPr>
            <p:ph type="body" idx="1"/>
          </p:nvPr>
        </p:nvSpPr>
        <p:spPr/>
        <p:txBody>
          <a:bodyPr/>
          <a:lstStyle/>
          <a:p>
            <a:r>
              <a:rPr lang="fr-FR" dirty="0"/>
              <a:t>Réaliser le planning détaillé du projet, avec toutes les tâches les jalons du projet </a:t>
            </a:r>
          </a:p>
          <a:p>
            <a:endParaRPr lang="fr-FR" dirty="0"/>
          </a:p>
        </p:txBody>
      </p:sp>
      <p:sp>
        <p:nvSpPr>
          <p:cNvPr id="4" name="Espace réservé du numéro de diapositive 3">
            <a:extLst>
              <a:ext uri="{FF2B5EF4-FFF2-40B4-BE49-F238E27FC236}">
                <a16:creationId xmlns:a16="http://schemas.microsoft.com/office/drawing/2014/main" id="{07897981-D8FC-4BCB-53A3-6422DF0B85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42</a:t>
            </a:fld>
            <a:endParaRPr lang="fr-FR"/>
          </a:p>
        </p:txBody>
      </p:sp>
    </p:spTree>
    <p:extLst>
      <p:ext uri="{BB962C8B-B14F-4D97-AF65-F5344CB8AC3E}">
        <p14:creationId xmlns:p14="http://schemas.microsoft.com/office/powerpoint/2010/main" val="10021292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1244-02FC-4607-9256-CC537A84EE29}"/>
              </a:ext>
            </a:extLst>
          </p:cNvPr>
          <p:cNvSpPr>
            <a:spLocks noGrp="1"/>
          </p:cNvSpPr>
          <p:nvPr>
            <p:ph type="title"/>
          </p:nvPr>
        </p:nvSpPr>
        <p:spPr>
          <a:xfrm>
            <a:off x="311700" y="123295"/>
            <a:ext cx="8520600" cy="831300"/>
          </a:xfrm>
        </p:spPr>
        <p:txBody>
          <a:bodyPr/>
          <a:lstStyle/>
          <a:p>
            <a:r>
              <a:rPr lang="fr-FR" sz="3200" dirty="0">
                <a:latin typeface="Nunito" pitchFamily="2" charset="77"/>
              </a:rPr>
              <a:t>Que doit-on avoir dans un planning détaillé? </a:t>
            </a:r>
          </a:p>
        </p:txBody>
      </p:sp>
      <p:sp>
        <p:nvSpPr>
          <p:cNvPr id="3" name="Espace réservé du texte 2">
            <a:extLst>
              <a:ext uri="{FF2B5EF4-FFF2-40B4-BE49-F238E27FC236}">
                <a16:creationId xmlns:a16="http://schemas.microsoft.com/office/drawing/2014/main" id="{0E33D9B3-CB49-41F3-B8AB-9C06E115FAFE}"/>
              </a:ext>
            </a:extLst>
          </p:cNvPr>
          <p:cNvSpPr>
            <a:spLocks noGrp="1"/>
          </p:cNvSpPr>
          <p:nvPr>
            <p:ph type="body" idx="1"/>
          </p:nvPr>
        </p:nvSpPr>
        <p:spPr>
          <a:xfrm>
            <a:off x="311700" y="960434"/>
            <a:ext cx="8520600" cy="3354000"/>
          </a:xfrm>
        </p:spPr>
        <p:txBody>
          <a:bodyPr/>
          <a:lstStyle/>
          <a:p>
            <a:r>
              <a:rPr lang="fr-FR" dirty="0">
                <a:latin typeface="Nunito" panose="020B0604020202020204" charset="0"/>
              </a:rPr>
              <a:t>Définir les grandes étapes d’un projet </a:t>
            </a:r>
            <a:r>
              <a:rPr lang="fr-FR" b="1" dirty="0">
                <a:latin typeface="Nunito" panose="020B0604020202020204" charset="0"/>
              </a:rPr>
              <a:t>(exemple site internet) </a:t>
            </a:r>
            <a:r>
              <a:rPr lang="fr-FR" dirty="0">
                <a:latin typeface="Nunito" panose="020B0604020202020204" charset="0"/>
              </a:rPr>
              <a:t>: </a:t>
            </a:r>
          </a:p>
          <a:p>
            <a:pPr lvl="1">
              <a:spcBef>
                <a:spcPts val="0"/>
              </a:spcBef>
            </a:pPr>
            <a:r>
              <a:rPr lang="fr-FR" sz="1800" dirty="0"/>
              <a:t>Cadrage projet</a:t>
            </a:r>
          </a:p>
          <a:p>
            <a:pPr lvl="1">
              <a:spcBef>
                <a:spcPts val="0"/>
              </a:spcBef>
            </a:pPr>
            <a:r>
              <a:rPr lang="fr-FR" sz="1800" dirty="0"/>
              <a:t>Conception</a:t>
            </a:r>
          </a:p>
          <a:p>
            <a:pPr lvl="1">
              <a:spcBef>
                <a:spcPts val="0"/>
              </a:spcBef>
            </a:pPr>
            <a:r>
              <a:rPr lang="fr-FR" sz="1800" dirty="0"/>
              <a:t>Réalisation / Développement / Tests</a:t>
            </a:r>
          </a:p>
          <a:p>
            <a:pPr lvl="1">
              <a:spcBef>
                <a:spcPts val="0"/>
              </a:spcBef>
            </a:pPr>
            <a:r>
              <a:rPr lang="fr-FR" sz="1800" dirty="0"/>
              <a:t>Mise en ligne</a:t>
            </a:r>
          </a:p>
          <a:p>
            <a:pPr marL="114300" indent="0">
              <a:buNone/>
            </a:pPr>
            <a:endParaRPr lang="fr-FR" b="1" dirty="0">
              <a:latin typeface="Nunito" panose="020B0604020202020204" charset="0"/>
            </a:endParaRPr>
          </a:p>
          <a:p>
            <a:r>
              <a:rPr lang="fr-FR" dirty="0">
                <a:latin typeface="Nunito" panose="020B0604020202020204" charset="0"/>
              </a:rPr>
              <a:t>Lister et détailler toutes les tâches nécessaires au projet </a:t>
            </a:r>
          </a:p>
          <a:p>
            <a:r>
              <a:rPr lang="fr-FR" dirty="0">
                <a:latin typeface="Nunito" panose="020B0604020202020204" charset="0"/>
              </a:rPr>
              <a:t>Hiérarchiser les tâches et les répartir en fonction des étapes du projet</a:t>
            </a:r>
          </a:p>
          <a:p>
            <a:r>
              <a:rPr lang="fr-FR" dirty="0">
                <a:latin typeface="Nunito" panose="020B0604020202020204" charset="0"/>
              </a:rPr>
              <a:t>Mettre les dates de début et de fin pour chaque tâche (+ estimation de temps associées)</a:t>
            </a:r>
          </a:p>
          <a:p>
            <a:r>
              <a:rPr lang="fr-FR" dirty="0">
                <a:latin typeface="Nunito" panose="020B0604020202020204" charset="0"/>
              </a:rPr>
              <a:t>Plusieurs tâches peuvent se réaliser en parallèle les unes des autres</a:t>
            </a:r>
          </a:p>
          <a:p>
            <a:r>
              <a:rPr lang="fr-FR" dirty="0">
                <a:latin typeface="Nunito" panose="020B0604020202020204" charset="0"/>
              </a:rPr>
              <a:t>Il est préférable d’être en jour mais on peut aussi le faire en semaine si projet très long. </a:t>
            </a:r>
          </a:p>
          <a:p>
            <a:pPr marL="114300" indent="0">
              <a:buNone/>
            </a:pPr>
            <a:endParaRPr lang="fr-FR" dirty="0"/>
          </a:p>
        </p:txBody>
      </p:sp>
      <p:sp>
        <p:nvSpPr>
          <p:cNvPr id="4" name="Espace réservé du numéro de diapositive 3">
            <a:extLst>
              <a:ext uri="{FF2B5EF4-FFF2-40B4-BE49-F238E27FC236}">
                <a16:creationId xmlns:a16="http://schemas.microsoft.com/office/drawing/2014/main" id="{A31B04C6-4DB8-4695-83F7-CE4C4E5AA9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43</a:t>
            </a:fld>
            <a:endParaRPr lang="fr-FR"/>
          </a:p>
        </p:txBody>
      </p:sp>
    </p:spTree>
    <p:extLst>
      <p:ext uri="{BB962C8B-B14F-4D97-AF65-F5344CB8AC3E}">
        <p14:creationId xmlns:p14="http://schemas.microsoft.com/office/powerpoint/2010/main" val="2802314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8409E8C-AB8D-4CDF-BFF9-E29BC6BB88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44</a:t>
            </a:fld>
            <a:endParaRPr lang="fr-FR"/>
          </a:p>
        </p:txBody>
      </p:sp>
      <p:pic>
        <p:nvPicPr>
          <p:cNvPr id="5" name="Image 4">
            <a:extLst>
              <a:ext uri="{FF2B5EF4-FFF2-40B4-BE49-F238E27FC236}">
                <a16:creationId xmlns:a16="http://schemas.microsoft.com/office/drawing/2014/main" id="{306DACB0-389F-56C4-CC2B-A12E821AD1C2}"/>
              </a:ext>
            </a:extLst>
          </p:cNvPr>
          <p:cNvPicPr>
            <a:picLocks noChangeAspect="1"/>
          </p:cNvPicPr>
          <p:nvPr/>
        </p:nvPicPr>
        <p:blipFill>
          <a:blip r:embed="rId2"/>
          <a:stretch>
            <a:fillRect/>
          </a:stretch>
        </p:blipFill>
        <p:spPr>
          <a:xfrm>
            <a:off x="82389" y="292524"/>
            <a:ext cx="8979222" cy="4084320"/>
          </a:xfrm>
          <a:prstGeom prst="rect">
            <a:avLst/>
          </a:prstGeom>
        </p:spPr>
      </p:pic>
      <p:sp>
        <p:nvSpPr>
          <p:cNvPr id="9" name="ZoneTexte 8">
            <a:extLst>
              <a:ext uri="{FF2B5EF4-FFF2-40B4-BE49-F238E27FC236}">
                <a16:creationId xmlns:a16="http://schemas.microsoft.com/office/drawing/2014/main" id="{32475078-B7D4-67A3-B516-1A8CC0985918}"/>
              </a:ext>
            </a:extLst>
          </p:cNvPr>
          <p:cNvSpPr txBox="1"/>
          <p:nvPr/>
        </p:nvSpPr>
        <p:spPr>
          <a:xfrm>
            <a:off x="0" y="4548986"/>
            <a:ext cx="4250079" cy="507831"/>
          </a:xfrm>
          <a:prstGeom prst="rect">
            <a:avLst/>
          </a:prstGeom>
          <a:noFill/>
        </p:spPr>
        <p:txBody>
          <a:bodyPr wrap="square" rtlCol="0">
            <a:spAutoFit/>
          </a:bodyPr>
          <a:lstStyle/>
          <a:p>
            <a:r>
              <a:rPr lang="fr-FR" sz="900" dirty="0"/>
              <a:t>Bleu = Action prestataire.                                      Gris = Week end &amp; jours fériés </a:t>
            </a:r>
          </a:p>
          <a:p>
            <a:r>
              <a:rPr lang="fr-FR" sz="900" dirty="0"/>
              <a:t>Vert = Action client </a:t>
            </a:r>
          </a:p>
          <a:p>
            <a:r>
              <a:rPr lang="fr-FR" sz="900" dirty="0"/>
              <a:t>Rouge = Validation client </a:t>
            </a:r>
          </a:p>
        </p:txBody>
      </p:sp>
    </p:spTree>
    <p:extLst>
      <p:ext uri="{BB962C8B-B14F-4D97-AF65-F5344CB8AC3E}">
        <p14:creationId xmlns:p14="http://schemas.microsoft.com/office/powerpoint/2010/main" val="923210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959B3-FE41-D9E2-5C00-2F7D5A0A5D2A}"/>
              </a:ext>
            </a:extLst>
          </p:cNvPr>
          <p:cNvSpPr>
            <a:spLocks noGrp="1"/>
          </p:cNvSpPr>
          <p:nvPr>
            <p:ph type="title"/>
          </p:nvPr>
        </p:nvSpPr>
        <p:spPr/>
        <p:txBody>
          <a:bodyPr/>
          <a:lstStyle/>
          <a:p>
            <a:r>
              <a:rPr lang="fr-FR" sz="3200" dirty="0">
                <a:latin typeface="Nunito" pitchFamily="2" charset="77"/>
              </a:rPr>
              <a:t>14</a:t>
            </a:r>
            <a:r>
              <a:rPr lang="fr-FR" sz="3200" baseline="30000" dirty="0">
                <a:latin typeface="Nunito" pitchFamily="2" charset="77"/>
              </a:rPr>
              <a:t>ième</a:t>
            </a:r>
            <a:r>
              <a:rPr lang="fr-FR" sz="3200" dirty="0">
                <a:latin typeface="Nunito" pitchFamily="2" charset="77"/>
              </a:rPr>
              <a:t> étape : Estimation budgétaire    </a:t>
            </a:r>
          </a:p>
        </p:txBody>
      </p:sp>
      <p:sp>
        <p:nvSpPr>
          <p:cNvPr id="3" name="Espace réservé du texte 2">
            <a:extLst>
              <a:ext uri="{FF2B5EF4-FFF2-40B4-BE49-F238E27FC236}">
                <a16:creationId xmlns:a16="http://schemas.microsoft.com/office/drawing/2014/main" id="{67EA015B-568B-312A-5623-401472C5C57B}"/>
              </a:ext>
            </a:extLst>
          </p:cNvPr>
          <p:cNvSpPr>
            <a:spLocks noGrp="1"/>
          </p:cNvSpPr>
          <p:nvPr>
            <p:ph type="body" idx="1"/>
          </p:nvPr>
        </p:nvSpPr>
        <p:spPr/>
        <p:txBody>
          <a:bodyPr/>
          <a:lstStyle/>
          <a:p>
            <a:endParaRPr lang="fr-FR" dirty="0"/>
          </a:p>
          <a:p>
            <a:r>
              <a:rPr lang="fr-FR" dirty="0"/>
              <a:t>Réalisez l’estimation budgétaire de votre projet – listez toutes vos tâches/fonctionnalités / y ajouter votre estimation de temps et un TJM associé</a:t>
            </a:r>
          </a:p>
        </p:txBody>
      </p:sp>
      <p:sp>
        <p:nvSpPr>
          <p:cNvPr id="4" name="Espace réservé du numéro de diapositive 3">
            <a:extLst>
              <a:ext uri="{FF2B5EF4-FFF2-40B4-BE49-F238E27FC236}">
                <a16:creationId xmlns:a16="http://schemas.microsoft.com/office/drawing/2014/main" id="{07897981-D8FC-4BCB-53A3-6422DF0B85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45</a:t>
            </a:fld>
            <a:endParaRPr lang="fr-FR"/>
          </a:p>
        </p:txBody>
      </p:sp>
    </p:spTree>
    <p:extLst>
      <p:ext uri="{BB962C8B-B14F-4D97-AF65-F5344CB8AC3E}">
        <p14:creationId xmlns:p14="http://schemas.microsoft.com/office/powerpoint/2010/main" val="1460655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16"/>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3600" dirty="0">
                <a:latin typeface="Nunito"/>
                <a:ea typeface="Nunito"/>
                <a:cs typeface="Nunito"/>
                <a:sym typeface="Nunito"/>
              </a:rPr>
              <a:t>Plusieurs possibilités pour estimer</a:t>
            </a:r>
            <a:endParaRPr sz="3600" dirty="0">
              <a:latin typeface="Nunito"/>
              <a:ea typeface="Nunito"/>
              <a:cs typeface="Nunito"/>
              <a:sym typeface="Nunito"/>
            </a:endParaRPr>
          </a:p>
        </p:txBody>
      </p:sp>
      <p:sp>
        <p:nvSpPr>
          <p:cNvPr id="86" name="Google Shape;86;p16"/>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t>46</a:t>
            </a:fld>
            <a:endParaRPr/>
          </a:p>
        </p:txBody>
      </p:sp>
    </p:spTree>
    <p:extLst>
      <p:ext uri="{BB962C8B-B14F-4D97-AF65-F5344CB8AC3E}">
        <p14:creationId xmlns:p14="http://schemas.microsoft.com/office/powerpoint/2010/main" val="3225353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D99B47-C8D6-CBF6-B0E4-AD4B16A097F9}"/>
              </a:ext>
            </a:extLst>
          </p:cNvPr>
          <p:cNvSpPr>
            <a:spLocks noGrp="1"/>
          </p:cNvSpPr>
          <p:nvPr>
            <p:ph type="title"/>
          </p:nvPr>
        </p:nvSpPr>
        <p:spPr>
          <a:xfrm>
            <a:off x="226208" y="148625"/>
            <a:ext cx="8520600" cy="831300"/>
          </a:xfrm>
        </p:spPr>
        <p:txBody>
          <a:bodyPr/>
          <a:lstStyle/>
          <a:p>
            <a:r>
              <a:rPr lang="fr-FR" sz="3600" dirty="0">
                <a:latin typeface="Nunito" pitchFamily="2" charset="77"/>
              </a:rPr>
              <a:t>Méthode Analogique (Top Down)  </a:t>
            </a:r>
          </a:p>
        </p:txBody>
      </p:sp>
      <p:sp>
        <p:nvSpPr>
          <p:cNvPr id="3" name="Espace réservé du texte 2">
            <a:extLst>
              <a:ext uri="{FF2B5EF4-FFF2-40B4-BE49-F238E27FC236}">
                <a16:creationId xmlns:a16="http://schemas.microsoft.com/office/drawing/2014/main" id="{68885EBB-AD2B-DC74-D894-D6B991E745B0}"/>
              </a:ext>
            </a:extLst>
          </p:cNvPr>
          <p:cNvSpPr>
            <a:spLocks noGrp="1"/>
          </p:cNvSpPr>
          <p:nvPr>
            <p:ph type="body" idx="1"/>
          </p:nvPr>
        </p:nvSpPr>
        <p:spPr>
          <a:xfrm>
            <a:off x="226208" y="979925"/>
            <a:ext cx="8520600" cy="3354000"/>
          </a:xfrm>
        </p:spPr>
        <p:txBody>
          <a:bodyPr/>
          <a:lstStyle/>
          <a:p>
            <a:r>
              <a:rPr lang="fr-FR" dirty="0"/>
              <a:t>Consiste à se référer aux coûts réels des projets similaires au vôtre et à les adapter en faisant quelques ajustements. </a:t>
            </a:r>
          </a:p>
          <a:p>
            <a:r>
              <a:rPr lang="fr-FR" dirty="0"/>
              <a:t>Trois étapes :</a:t>
            </a:r>
          </a:p>
          <a:p>
            <a:pPr lvl="1"/>
            <a:r>
              <a:rPr lang="fr-FR" b="1" dirty="0"/>
              <a:t>Analyser le projet </a:t>
            </a:r>
            <a:r>
              <a:rPr lang="fr-FR" dirty="0"/>
              <a:t>: connaître l’ensemble du projet pour faciliter la recherche d’un projet semblable.</a:t>
            </a:r>
          </a:p>
          <a:p>
            <a:pPr lvl="1"/>
            <a:r>
              <a:rPr lang="fr-FR" b="1" dirty="0"/>
              <a:t>Rechercher un projet similaire.</a:t>
            </a:r>
            <a:endParaRPr lang="fr-FR" dirty="0"/>
          </a:p>
          <a:p>
            <a:pPr lvl="1"/>
            <a:r>
              <a:rPr lang="fr-FR" b="1" dirty="0"/>
              <a:t>Comparer et chiffrer </a:t>
            </a:r>
            <a:r>
              <a:rPr lang="fr-FR" dirty="0"/>
              <a:t>: des ajustements devront être effectués en fonction des différences entre les deux projets.</a:t>
            </a:r>
          </a:p>
          <a:p>
            <a:r>
              <a:rPr lang="fr-FR" dirty="0"/>
              <a:t>Solution de chiffrage rapide, mais moins précise. Elle est souvent utilisée pour décider si un projet sera lancé ou non.</a:t>
            </a:r>
          </a:p>
          <a:p>
            <a:r>
              <a:rPr lang="fr-FR" dirty="0"/>
              <a:t>Inconvénient : On peut louper des tâches</a:t>
            </a:r>
          </a:p>
          <a:p>
            <a:endParaRPr lang="fr-FR" dirty="0"/>
          </a:p>
        </p:txBody>
      </p:sp>
      <p:sp>
        <p:nvSpPr>
          <p:cNvPr id="4" name="Espace réservé du numéro de diapositive 3">
            <a:extLst>
              <a:ext uri="{FF2B5EF4-FFF2-40B4-BE49-F238E27FC236}">
                <a16:creationId xmlns:a16="http://schemas.microsoft.com/office/drawing/2014/main" id="{C033DB15-3B94-355E-D227-5D860F601D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47</a:t>
            </a:fld>
            <a:endParaRPr lang="fr-FR"/>
          </a:p>
        </p:txBody>
      </p:sp>
    </p:spTree>
    <p:extLst>
      <p:ext uri="{BB962C8B-B14F-4D97-AF65-F5344CB8AC3E}">
        <p14:creationId xmlns:p14="http://schemas.microsoft.com/office/powerpoint/2010/main" val="1878758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51D0F6-8A94-8D02-8E44-C5604DA5B49F}"/>
              </a:ext>
            </a:extLst>
          </p:cNvPr>
          <p:cNvSpPr>
            <a:spLocks noGrp="1"/>
          </p:cNvSpPr>
          <p:nvPr>
            <p:ph type="title"/>
          </p:nvPr>
        </p:nvSpPr>
        <p:spPr/>
        <p:txBody>
          <a:bodyPr/>
          <a:lstStyle/>
          <a:p>
            <a:r>
              <a:rPr lang="fr-FR" sz="3600" dirty="0">
                <a:latin typeface="Nunito" pitchFamily="2" charset="77"/>
              </a:rPr>
              <a:t>Méthode Ascendante (Bottom up)  </a:t>
            </a:r>
          </a:p>
        </p:txBody>
      </p:sp>
      <p:sp>
        <p:nvSpPr>
          <p:cNvPr id="3" name="Espace réservé du texte 2">
            <a:extLst>
              <a:ext uri="{FF2B5EF4-FFF2-40B4-BE49-F238E27FC236}">
                <a16:creationId xmlns:a16="http://schemas.microsoft.com/office/drawing/2014/main" id="{6106D1F9-496B-1379-D373-0CE3615E69B3}"/>
              </a:ext>
            </a:extLst>
          </p:cNvPr>
          <p:cNvSpPr>
            <a:spLocks noGrp="1"/>
          </p:cNvSpPr>
          <p:nvPr>
            <p:ph type="body" idx="1"/>
          </p:nvPr>
        </p:nvSpPr>
        <p:spPr/>
        <p:txBody>
          <a:bodyPr/>
          <a:lstStyle/>
          <a:p>
            <a:r>
              <a:rPr lang="fr-FR" dirty="0"/>
              <a:t>Estimation du temps puis le cout de chaque tâches, puis d’additionner chacune de ces estimations afin d’obtenir le coût global du projet. </a:t>
            </a:r>
          </a:p>
          <a:p>
            <a:r>
              <a:rPr lang="fr-FR" dirty="0"/>
              <a:t>Permets de ne louper aucune tâche</a:t>
            </a:r>
          </a:p>
          <a:p>
            <a:r>
              <a:rPr lang="fr-FR" dirty="0"/>
              <a:t>Inconvénient : trop de contingence </a:t>
            </a:r>
          </a:p>
          <a:p>
            <a:endParaRPr lang="fr-FR" dirty="0"/>
          </a:p>
        </p:txBody>
      </p:sp>
      <p:sp>
        <p:nvSpPr>
          <p:cNvPr id="4" name="Espace réservé du numéro de diapositive 3">
            <a:extLst>
              <a:ext uri="{FF2B5EF4-FFF2-40B4-BE49-F238E27FC236}">
                <a16:creationId xmlns:a16="http://schemas.microsoft.com/office/drawing/2014/main" id="{D416E468-E08E-20C3-9580-8A633E4375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48</a:t>
            </a:fld>
            <a:endParaRPr lang="fr-FR"/>
          </a:p>
        </p:txBody>
      </p:sp>
    </p:spTree>
    <p:extLst>
      <p:ext uri="{BB962C8B-B14F-4D97-AF65-F5344CB8AC3E}">
        <p14:creationId xmlns:p14="http://schemas.microsoft.com/office/powerpoint/2010/main" val="643682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F924A1-8F44-CFBA-8122-0DC2849CCF27}"/>
              </a:ext>
            </a:extLst>
          </p:cNvPr>
          <p:cNvSpPr>
            <a:spLocks noGrp="1"/>
          </p:cNvSpPr>
          <p:nvPr>
            <p:ph type="title"/>
          </p:nvPr>
        </p:nvSpPr>
        <p:spPr/>
        <p:txBody>
          <a:bodyPr/>
          <a:lstStyle/>
          <a:p>
            <a:r>
              <a:rPr lang="fr-FR" sz="3200" dirty="0">
                <a:latin typeface="Nunito" pitchFamily="2" charset="77"/>
              </a:rPr>
              <a:t>Cas pratique - suite</a:t>
            </a:r>
          </a:p>
        </p:txBody>
      </p:sp>
      <p:sp>
        <p:nvSpPr>
          <p:cNvPr id="3" name="Espace réservé du texte 2">
            <a:extLst>
              <a:ext uri="{FF2B5EF4-FFF2-40B4-BE49-F238E27FC236}">
                <a16:creationId xmlns:a16="http://schemas.microsoft.com/office/drawing/2014/main" id="{BBFC3496-3A26-2AE8-C580-AF5049062F8C}"/>
              </a:ext>
            </a:extLst>
          </p:cNvPr>
          <p:cNvSpPr>
            <a:spLocks noGrp="1"/>
          </p:cNvSpPr>
          <p:nvPr>
            <p:ph type="body" idx="1"/>
          </p:nvPr>
        </p:nvSpPr>
        <p:spPr/>
        <p:txBody>
          <a:bodyPr/>
          <a:lstStyle/>
          <a:p>
            <a:r>
              <a:rPr lang="fr-FR" dirty="0"/>
              <a:t>Réaliser le Cahier des charges de votre projet (14 étapes) </a:t>
            </a:r>
          </a:p>
        </p:txBody>
      </p:sp>
      <p:sp>
        <p:nvSpPr>
          <p:cNvPr id="4" name="Espace réservé du numéro de diapositive 3">
            <a:extLst>
              <a:ext uri="{FF2B5EF4-FFF2-40B4-BE49-F238E27FC236}">
                <a16:creationId xmlns:a16="http://schemas.microsoft.com/office/drawing/2014/main" id="{7AFA2745-D703-BBF5-B14A-FE396485AA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49</a:t>
            </a:fld>
            <a:endParaRPr lang="fr-FR"/>
          </a:p>
        </p:txBody>
      </p:sp>
    </p:spTree>
    <p:extLst>
      <p:ext uri="{BB962C8B-B14F-4D97-AF65-F5344CB8AC3E}">
        <p14:creationId xmlns:p14="http://schemas.microsoft.com/office/powerpoint/2010/main" val="3612704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1FA242-E368-F344-11A1-B739D3B8F30A}"/>
              </a:ext>
            </a:extLst>
          </p:cNvPr>
          <p:cNvSpPr>
            <a:spLocks noGrp="1"/>
          </p:cNvSpPr>
          <p:nvPr>
            <p:ph type="title"/>
          </p:nvPr>
        </p:nvSpPr>
        <p:spPr/>
        <p:txBody>
          <a:bodyPr/>
          <a:lstStyle/>
          <a:p>
            <a:r>
              <a:rPr lang="fr-FR" sz="3200" dirty="0">
                <a:latin typeface="Nunito" pitchFamily="2" charset="77"/>
              </a:rPr>
              <a:t>Livraison cas pratique </a:t>
            </a:r>
          </a:p>
        </p:txBody>
      </p:sp>
      <p:sp>
        <p:nvSpPr>
          <p:cNvPr id="3" name="Espace réservé du texte 2">
            <a:extLst>
              <a:ext uri="{FF2B5EF4-FFF2-40B4-BE49-F238E27FC236}">
                <a16:creationId xmlns:a16="http://schemas.microsoft.com/office/drawing/2014/main" id="{A70AEAA5-9D9B-19C6-DF53-5059D3AB579C}"/>
              </a:ext>
            </a:extLst>
          </p:cNvPr>
          <p:cNvSpPr>
            <a:spLocks noGrp="1"/>
          </p:cNvSpPr>
          <p:nvPr>
            <p:ph type="body" idx="1"/>
          </p:nvPr>
        </p:nvSpPr>
        <p:spPr/>
        <p:txBody>
          <a:bodyPr/>
          <a:lstStyle/>
          <a:p>
            <a:r>
              <a:rPr lang="fr-FR" dirty="0"/>
              <a:t>Rendu prévu le 26/03 lors de notre dernier cours </a:t>
            </a:r>
          </a:p>
          <a:p>
            <a:r>
              <a:rPr lang="fr-FR" dirty="0"/>
              <a:t>Vous devez me rendre sur Teams (bien mettre les noms/</a:t>
            </a:r>
            <a:r>
              <a:rPr lang="fr-FR" dirty="0" err="1"/>
              <a:t>prenoms</a:t>
            </a:r>
            <a:r>
              <a:rPr lang="fr-FR" dirty="0"/>
              <a:t> de tous les membre du groupe) via les conversations groupes créés – Fichier </a:t>
            </a:r>
            <a:r>
              <a:rPr lang="fr-FR" dirty="0" err="1"/>
              <a:t>word</a:t>
            </a:r>
            <a:r>
              <a:rPr lang="fr-FR" dirty="0"/>
              <a:t>, </a:t>
            </a:r>
            <a:r>
              <a:rPr lang="fr-FR" dirty="0" err="1"/>
              <a:t>pdf</a:t>
            </a:r>
            <a:r>
              <a:rPr lang="fr-FR" dirty="0"/>
              <a:t> ou notion</a:t>
            </a:r>
          </a:p>
          <a:p>
            <a:pPr lvl="1"/>
            <a:r>
              <a:rPr lang="fr-FR" dirty="0"/>
              <a:t>La note de cadrage de votre projet </a:t>
            </a:r>
          </a:p>
          <a:p>
            <a:pPr lvl="1"/>
            <a:r>
              <a:rPr lang="fr-FR" dirty="0"/>
              <a:t>Le cahier des charges de votre projet </a:t>
            </a:r>
          </a:p>
          <a:p>
            <a:pPr lvl="1"/>
            <a:r>
              <a:rPr lang="fr-FR" dirty="0"/>
              <a:t>La présentation Power Point de votre oral</a:t>
            </a:r>
          </a:p>
          <a:p>
            <a:pPr marL="596900" lvl="1" indent="0">
              <a:buNone/>
            </a:pPr>
            <a:endParaRPr lang="fr-FR" dirty="0"/>
          </a:p>
          <a:p>
            <a:r>
              <a:rPr lang="fr-FR" dirty="0"/>
              <a:t>Faites attention à la présentation de vos livrables, aux fautes et à vos phrases. </a:t>
            </a:r>
          </a:p>
          <a:p>
            <a:endParaRPr lang="fr-FR" dirty="0"/>
          </a:p>
        </p:txBody>
      </p:sp>
      <p:sp>
        <p:nvSpPr>
          <p:cNvPr id="4" name="Espace réservé du numéro de diapositive 3">
            <a:extLst>
              <a:ext uri="{FF2B5EF4-FFF2-40B4-BE49-F238E27FC236}">
                <a16:creationId xmlns:a16="http://schemas.microsoft.com/office/drawing/2014/main" id="{AD3DFFFE-959A-18C3-D6DF-89C90AF1BB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50</a:t>
            </a:fld>
            <a:endParaRPr lang="fr-FR"/>
          </a:p>
        </p:txBody>
      </p:sp>
    </p:spTree>
    <p:extLst>
      <p:ext uri="{BB962C8B-B14F-4D97-AF65-F5344CB8AC3E}">
        <p14:creationId xmlns:p14="http://schemas.microsoft.com/office/powerpoint/2010/main" val="4236656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A71DDA-D351-F46E-D4A5-84097AD0EEB3}"/>
              </a:ext>
            </a:extLst>
          </p:cNvPr>
          <p:cNvSpPr>
            <a:spLocks noGrp="1"/>
          </p:cNvSpPr>
          <p:nvPr>
            <p:ph type="title"/>
          </p:nvPr>
        </p:nvSpPr>
        <p:spPr/>
        <p:txBody>
          <a:bodyPr/>
          <a:lstStyle/>
          <a:p>
            <a:r>
              <a:rPr lang="fr-FR" sz="3000" dirty="0">
                <a:latin typeface="Nunito" pitchFamily="2" charset="77"/>
              </a:rPr>
              <a:t>Oral 26/03 après midi 1/2 </a:t>
            </a:r>
          </a:p>
        </p:txBody>
      </p:sp>
      <p:sp>
        <p:nvSpPr>
          <p:cNvPr id="3" name="Espace réservé du texte 2">
            <a:extLst>
              <a:ext uri="{FF2B5EF4-FFF2-40B4-BE49-F238E27FC236}">
                <a16:creationId xmlns:a16="http://schemas.microsoft.com/office/drawing/2014/main" id="{D408F733-46F8-200E-B18E-2D177D04A6DE}"/>
              </a:ext>
            </a:extLst>
          </p:cNvPr>
          <p:cNvSpPr>
            <a:spLocks noGrp="1"/>
          </p:cNvSpPr>
          <p:nvPr>
            <p:ph type="body" idx="1"/>
          </p:nvPr>
        </p:nvSpPr>
        <p:spPr/>
        <p:txBody>
          <a:bodyPr/>
          <a:lstStyle/>
          <a:p>
            <a:r>
              <a:rPr lang="fr-FR" dirty="0"/>
              <a:t>Retrouvez votre créneau de passage ici : </a:t>
            </a:r>
            <a:r>
              <a:rPr lang="fr-FR" dirty="0">
                <a:hlinkClick r:id="rId2" tooltip="https://docs.google.com/spreadsheets/d/1-amnozzekulk1vehcjgnyoev3pwjv_ecybrt2neh-ou/edit"/>
              </a:rPr>
              <a:t>https://docs.google.com/spreadsheets/d/1-AmNozZEkULk1vEHcJgNYOev3pwJv_EcYBRT2nEH-OU/edit</a:t>
            </a:r>
            <a:endParaRPr lang="fr-FR" dirty="0"/>
          </a:p>
          <a:p>
            <a:r>
              <a:rPr lang="fr-FR" dirty="0"/>
              <a:t>Vous devez tous être présents à 14h en présentiel – si vous arrivez après je vous note absent et pas de passage à l’oral </a:t>
            </a:r>
          </a:p>
          <a:p>
            <a:r>
              <a:rPr lang="fr-FR" dirty="0"/>
              <a:t>Oraux 10 min maximum par groupe (5 min par groupe pour connecter l’ordinateur pour projeter le PPT) </a:t>
            </a:r>
          </a:p>
          <a:p>
            <a:r>
              <a:rPr lang="fr-FR" dirty="0"/>
              <a:t>Bien vous préparer par groupe pour ne pas dépasser 10 min – Il faut que chaque personne du groupe parle de manière équivalente </a:t>
            </a:r>
          </a:p>
        </p:txBody>
      </p:sp>
      <p:sp>
        <p:nvSpPr>
          <p:cNvPr id="4" name="Espace réservé du numéro de diapositive 3">
            <a:extLst>
              <a:ext uri="{FF2B5EF4-FFF2-40B4-BE49-F238E27FC236}">
                <a16:creationId xmlns:a16="http://schemas.microsoft.com/office/drawing/2014/main" id="{92BDE2D8-6FA2-2BDC-233F-675316FF23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51</a:t>
            </a:fld>
            <a:endParaRPr lang="fr-FR"/>
          </a:p>
        </p:txBody>
      </p:sp>
    </p:spTree>
    <p:extLst>
      <p:ext uri="{BB962C8B-B14F-4D97-AF65-F5344CB8AC3E}">
        <p14:creationId xmlns:p14="http://schemas.microsoft.com/office/powerpoint/2010/main" val="2674954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887A94-BB07-E406-AABB-8B1A5F54872C}"/>
              </a:ext>
            </a:extLst>
          </p:cNvPr>
          <p:cNvSpPr>
            <a:spLocks noGrp="1"/>
          </p:cNvSpPr>
          <p:nvPr>
            <p:ph type="title"/>
          </p:nvPr>
        </p:nvSpPr>
        <p:spPr>
          <a:xfrm>
            <a:off x="311700" y="148625"/>
            <a:ext cx="8520600" cy="831300"/>
          </a:xfrm>
        </p:spPr>
        <p:txBody>
          <a:bodyPr/>
          <a:lstStyle/>
          <a:p>
            <a:r>
              <a:rPr lang="fr-FR" sz="3000" dirty="0">
                <a:latin typeface="Nunito" pitchFamily="2" charset="77"/>
              </a:rPr>
              <a:t>Oral 26/03 après midi 2/2 </a:t>
            </a:r>
          </a:p>
        </p:txBody>
      </p:sp>
      <p:sp>
        <p:nvSpPr>
          <p:cNvPr id="3" name="Espace réservé du texte 2">
            <a:extLst>
              <a:ext uri="{FF2B5EF4-FFF2-40B4-BE49-F238E27FC236}">
                <a16:creationId xmlns:a16="http://schemas.microsoft.com/office/drawing/2014/main" id="{455FE943-71F7-72A5-8448-0F4AEA5B7C26}"/>
              </a:ext>
            </a:extLst>
          </p:cNvPr>
          <p:cNvSpPr>
            <a:spLocks noGrp="1"/>
          </p:cNvSpPr>
          <p:nvPr>
            <p:ph type="body" idx="1"/>
          </p:nvPr>
        </p:nvSpPr>
        <p:spPr>
          <a:xfrm>
            <a:off x="311700" y="979925"/>
            <a:ext cx="8520600" cy="3354000"/>
          </a:xfrm>
        </p:spPr>
        <p:txBody>
          <a:bodyPr/>
          <a:lstStyle/>
          <a:p>
            <a:r>
              <a:rPr lang="fr-FR" dirty="0"/>
              <a:t>Préparez une présentation power point </a:t>
            </a:r>
          </a:p>
          <a:p>
            <a:r>
              <a:rPr lang="fr-FR" dirty="0"/>
              <a:t>Voici le plan proposé pour votre oral (s’il vous reste du temps n’hésitez pas à ajouter d’autres choses) </a:t>
            </a:r>
          </a:p>
          <a:p>
            <a:pPr lvl="1"/>
            <a:r>
              <a:rPr lang="fr-FR" dirty="0"/>
              <a:t>Présentation de votre startup </a:t>
            </a:r>
          </a:p>
          <a:p>
            <a:pPr lvl="1"/>
            <a:r>
              <a:rPr lang="fr-FR" dirty="0"/>
              <a:t>Présentation de la solution digitale associée À votre startup </a:t>
            </a:r>
          </a:p>
          <a:p>
            <a:pPr lvl="1"/>
            <a:r>
              <a:rPr lang="fr-FR" dirty="0"/>
              <a:t>Présentation de votre cible, de vos objectifs (en sélectionner quelques uns), du périmètre de votre projet, de votre périmètre et vos livrables</a:t>
            </a:r>
          </a:p>
          <a:p>
            <a:pPr lvl="1"/>
            <a:r>
              <a:rPr lang="fr-FR" dirty="0"/>
              <a:t>Présentation des grands jalons de votre projet (macro planning) </a:t>
            </a:r>
          </a:p>
          <a:p>
            <a:pPr lvl="1"/>
            <a:r>
              <a:rPr lang="fr-FR" dirty="0"/>
              <a:t>Présentation de votre organisation ( méthodologie etc…) </a:t>
            </a:r>
          </a:p>
          <a:p>
            <a:pPr lvl="1"/>
            <a:r>
              <a:rPr lang="fr-FR" dirty="0"/>
              <a:t>Les points positifs et négatifs de ce travail de groupe </a:t>
            </a:r>
          </a:p>
        </p:txBody>
      </p:sp>
      <p:sp>
        <p:nvSpPr>
          <p:cNvPr id="4" name="Espace réservé du numéro de diapositive 3">
            <a:extLst>
              <a:ext uri="{FF2B5EF4-FFF2-40B4-BE49-F238E27FC236}">
                <a16:creationId xmlns:a16="http://schemas.microsoft.com/office/drawing/2014/main" id="{FED964A8-955C-326F-CAB8-22A24AEB91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52</a:t>
            </a:fld>
            <a:endParaRPr lang="fr-FR"/>
          </a:p>
        </p:txBody>
      </p:sp>
    </p:spTree>
    <p:extLst>
      <p:ext uri="{BB962C8B-B14F-4D97-AF65-F5344CB8AC3E}">
        <p14:creationId xmlns:p14="http://schemas.microsoft.com/office/powerpoint/2010/main" val="1938698679"/>
      </p:ext>
    </p:extLst>
  </p:cSld>
  <p:clrMapOvr>
    <a:masterClrMapping/>
  </p:clrMapOvr>
</p:sld>
</file>

<file path=ppt/theme/theme1.xml><?xml version="1.0" encoding="utf-8"?>
<a:theme xmlns:a="http://schemas.openxmlformats.org/drawingml/2006/main" name="Lux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c7cea5e-0b90-4961-be54-37c64c642d5a}" enabled="1" method="Privileged" siteId="{e8b88f3d-222b-4ce5-b9d1-46b0ff9466a0}" removed="0"/>
</clbl:labelList>
</file>

<file path=docProps/app.xml><?xml version="1.0" encoding="utf-8"?>
<Properties xmlns="http://schemas.openxmlformats.org/officeDocument/2006/extended-properties" xmlns:vt="http://schemas.openxmlformats.org/officeDocument/2006/docPropsVTypes">
  <Template/>
  <TotalTime>27543</TotalTime>
  <Words>2922</Words>
  <Application>Microsoft Macintosh PowerPoint</Application>
  <PresentationFormat>Affichage à l'écran (16:9)</PresentationFormat>
  <Paragraphs>396</Paragraphs>
  <Slides>52</Slides>
  <Notes>21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52</vt:i4>
      </vt:variant>
    </vt:vector>
  </HeadingPairs>
  <TitlesOfParts>
    <vt:vector size="57" baseType="lpstr">
      <vt:lpstr>Economica</vt:lpstr>
      <vt:lpstr>Open Sans</vt:lpstr>
      <vt:lpstr>Nunito</vt:lpstr>
      <vt:lpstr>Arial</vt:lpstr>
      <vt:lpstr>Luxe</vt:lpstr>
      <vt:lpstr>Cahier des charges   </vt:lpstr>
      <vt:lpstr>Cahier des charges </vt:lpstr>
      <vt:lpstr>Qu’est-ce qu’un cahier des charges (CDC) ? </vt:lpstr>
      <vt:lpstr>Les fonctions du CDC</vt:lpstr>
      <vt:lpstr>Détails éléments à avoir dans un CDC</vt:lpstr>
      <vt:lpstr>1ère étape : Page de présentation du document</vt:lpstr>
      <vt:lpstr>2ième étape: Sommaire</vt:lpstr>
      <vt:lpstr>Entreprise</vt:lpstr>
      <vt:lpstr>4ième étape : Définir les objectifs du projet 1/5</vt:lpstr>
      <vt:lpstr>4ième étape : Définir les objectifs du projet 2/5</vt:lpstr>
      <vt:lpstr>4ième étape : Définir les objectifs du projet 3/5</vt:lpstr>
      <vt:lpstr>4ième étape : Définir les objectifs du projet 4/5</vt:lpstr>
      <vt:lpstr>4ième étape : Définir les objectifs du projet 5/5</vt:lpstr>
      <vt:lpstr>5ième étape : La Cible </vt:lpstr>
      <vt:lpstr>Qu’est ce qu’un persona ? </vt:lpstr>
      <vt:lpstr>Présentation PowerPoint</vt:lpstr>
      <vt:lpstr>6ième étape : Périmètre du produit</vt:lpstr>
      <vt:lpstr>7ième étape : Les livrables </vt:lpstr>
      <vt:lpstr>8ième étape : Spécifications techniques</vt:lpstr>
      <vt:lpstr>Points techniques importants -1</vt:lpstr>
      <vt:lpstr>Points techniques importants -2  </vt:lpstr>
      <vt:lpstr>Schéma d’architecture BDD (facultatif – bonus +1) </vt:lpstr>
      <vt:lpstr>9ième étape : Pistes créatives</vt:lpstr>
      <vt:lpstr>Exemples moodboard</vt:lpstr>
      <vt:lpstr>10ième étape : Arborescence produit</vt:lpstr>
      <vt:lpstr>Exemple d'arborescence produit</vt:lpstr>
      <vt:lpstr>11ième étape : Choix d’une méthodologie projet </vt:lpstr>
      <vt:lpstr>12ième étape : Spécifications fonctionnelles</vt:lpstr>
      <vt:lpstr>OPTION 1</vt:lpstr>
      <vt:lpstr>Format texte </vt:lpstr>
      <vt:lpstr>Exemple  </vt:lpstr>
      <vt:lpstr>OPTION 2</vt:lpstr>
      <vt:lpstr>User Story</vt:lpstr>
      <vt:lpstr>Comment créer une user story ? </vt:lpstr>
      <vt:lpstr>Qu’inclut une user story ?</vt:lpstr>
      <vt:lpstr>Exemple User Story</vt:lpstr>
      <vt:lpstr>Exemple User Story</vt:lpstr>
      <vt:lpstr>Exemple User Story</vt:lpstr>
      <vt:lpstr>Exemple Trello (1/2)</vt:lpstr>
      <vt:lpstr>Exemple Trello (2/2) </vt:lpstr>
      <vt:lpstr>Exemple Notion (1/1)</vt:lpstr>
      <vt:lpstr>13ième étape : Planning détaillé </vt:lpstr>
      <vt:lpstr>Que doit-on avoir dans un planning détaillé? </vt:lpstr>
      <vt:lpstr>Présentation PowerPoint</vt:lpstr>
      <vt:lpstr>14ième étape : Estimation budgétaire    </vt:lpstr>
      <vt:lpstr>Plusieurs possibilités pour estimer</vt:lpstr>
      <vt:lpstr>Méthode Analogique (Top Down)  </vt:lpstr>
      <vt:lpstr>Méthode Ascendante (Bottom up)  </vt:lpstr>
      <vt:lpstr>Cas pratique - suite</vt:lpstr>
      <vt:lpstr>Livraison cas pratique </vt:lpstr>
      <vt:lpstr>Oral 26/03 après midi 1/2 </vt:lpstr>
      <vt:lpstr>Oral 26/03 après midi 2/2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creator>Emma KERGO</dc:creator>
  <cp:lastModifiedBy>Emma KERGO</cp:lastModifiedBy>
  <cp:revision>128</cp:revision>
  <dcterms:modified xsi:type="dcterms:W3CDTF">2025-01-22T08:39:18Z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Text">
    <vt:lpwstr>Public [ ] Interne [ ] Restreint [X] Confidentiel [ ]</vt:lpwstr>
  </property>
</Properties>
</file>